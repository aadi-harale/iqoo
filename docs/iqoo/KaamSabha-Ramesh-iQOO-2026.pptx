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amesh" id="{f3793b75-4957-529c-0fe7-d1f2ee956ba4}">
          <p14:sldIdLst>
            <p14:sldId id="256"/>
            <p14:sldId id="257"/>
            <p14:sldId id="258"/>
            <p14:sldId id="259"/>
            <p14:sldId id="260"/>
            <p14:sldId id="261"/>
            <p14:sldId id="262"/>
            <p14:sldId id="263"/>
            <p14:sldId id="264"/>
            <p14:sldId id="265"/>
            <p14:sldId id="266"/>
            <p14:sldId id="267"/>
            <p14:sldId id="268"/>
            <p14:sldId id="269"/>
            <p14:sldId id="270"/>
          </p14:sldIdLst>
        </p14:section>
        <p14:section name="Close" id="{38300ecd-b198-ae01-0f0c-d40d7c9cf61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This cooperative's constitution</c:v>
                </c:pt>
              </c:strCache>
            </c:strRef>
          </c:tx>
          <c:spPr>
            <a:solidFill>
              <a:srgbClr val="183C31"/>
            </a:solidFill>
            <a:effectLst/>
          </c:spPr>
          <c:invertIfNegative val="0"/>
          <c:dLbls>
            <c:numFmt formatCode="#,##0" sourceLinked="0"/>
            <c:txPr>
              <a:bodyPr/>
              <a:lstStyle/>
              <a:p>
                <a:pPr>
                  <a:defRPr b="1" i="0" strike="noStrike" sz="1500" u="none">
                    <a:solidFill>
                      <a:srgbClr val="173D31"/>
                    </a:solidFill>
                    <a:latin typeface="+mn-lt"/>
                  </a:defRPr>
                </a:pPr>
              </a:p>
            </c:txPr>
            <c:showLegendKey val="0"/>
            <c:showVal val="1"/>
            <c:showCatName val="0"/>
            <c:showSerName val="0"/>
            <c:showPercent val="0"/>
            <c:showBubbleSize val="0"/>
            <c:showLeaderLines val="0"/>
          </c:dLbls>
          <c:cat>
            <c:multiLvlStrRef>
              <c:f>Sheet1!$A$2:$A$3</c:f>
              <c:multiLvlStrCache>
                <c:ptCount val="2"/>
                <c:lvl>
                  <c:pt idx="0">
                    <c:v>Members who earn
(of 13)</c:v>
                  </c:pt>
                  <c:pt idx="1">
                    <c:v>Jobs handed to a member
already at their daily limit</c:v>
                  </c:pt>
                </c:lvl>
              </c:multiLvlStrCache>
            </c:multiLvlStrRef>
          </c:cat>
          <c:val>
            <c:numRef>
              <c:f>Sheet1!$B$2:$B$3</c:f>
              <c:numCache>
                <c:formatCode>General</c:formatCode>
                <c:ptCount val="2"/>
                <c:pt idx="0">
                  <c:v>10</c:v>
                </c:pt>
                <c:pt idx="1">
                  <c:v>0</c:v>
                </c:pt>
              </c:numCache>
            </c:numRef>
          </c:val>
        </c:ser>
        <c:ser>
          <c:idx val="1"/>
          <c:order val="1"/>
          <c:tx>
            <c:strRef>
              <c:f>Sheet1!$C$1</c:f>
              <c:strCache>
                <c:ptCount val="1"/>
                <c:pt idx="0">
                  <c:v>Rating-ranked dispatch</c:v>
                </c:pt>
              </c:strCache>
            </c:strRef>
          </c:tx>
          <c:spPr>
            <a:solidFill>
              <a:srgbClr val="9C382F"/>
            </a:solidFill>
            <a:effectLst/>
          </c:spPr>
          <c:invertIfNegative val="0"/>
          <c:dLbls>
            <c:numFmt formatCode="#,##0" sourceLinked="0"/>
            <c:txPr>
              <a:bodyPr/>
              <a:lstStyle/>
              <a:p>
                <a:pPr>
                  <a:defRPr b="1" i="0" strike="noStrike" sz="1500" u="none">
                    <a:solidFill>
                      <a:srgbClr val="173D31"/>
                    </a:solidFill>
                    <a:latin typeface="+mn-lt"/>
                  </a:defRPr>
                </a:pPr>
              </a:p>
            </c:txPr>
            <c:showLegendKey val="0"/>
            <c:showVal val="1"/>
            <c:showCatName val="0"/>
            <c:showSerName val="0"/>
            <c:showPercent val="0"/>
            <c:showBubbleSize val="0"/>
            <c:showLeaderLines val="0"/>
          </c:dLbls>
          <c:cat>
            <c:multiLvlStrRef>
              <c:f>Sheet1!$A$2:$A$3</c:f>
              <c:multiLvlStrCache>
                <c:ptCount val="2"/>
                <c:lvl>
                  <c:pt idx="0">
                    <c:v>Members who earn
(of 13)</c:v>
                  </c:pt>
                  <c:pt idx="1">
                    <c:v>Jobs handed to a member
already at their daily limit</c:v>
                  </c:pt>
                </c:lvl>
              </c:multiLvlStrCache>
            </c:multiLvlStrRef>
          </c:cat>
          <c:val>
            <c:numRef>
              <c:f>Sheet1!$C$2:$C$3</c:f>
              <c:numCache>
                <c:formatCode>General</c:formatCode>
                <c:ptCount val="2"/>
                <c:pt idx="0">
                  <c:v>5</c:v>
                </c:pt>
                <c:pt idx="1">
                  <c:v>11</c:v>
                </c:pt>
              </c:numCache>
            </c:numRef>
          </c:val>
        </c:ser>
        <c:dLbls>
          <c:numFmt formatCode="#,##0" sourceLinked="0"/>
          <c:txPr>
            <a:bodyPr/>
            <a:lstStyle/>
            <a:p>
              <a:pPr>
                <a:defRPr b="1" i="0" strike="noStrike" sz="1500" u="none">
                  <a:solidFill>
                    <a:srgbClr val="173D3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44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9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C938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A544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slide. Say: 'We are going to follow one electrician for one month. His name is Ramesh. Everything you see is a real screen.'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Ramesh human for fifteen seconds. Eleven years, sets his own ceiling, reads Marathi. Then land 'a reason' and stop talking for a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did not write this problem statement, a union did. Let the quote carry it. Do not add adjectives.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'why is this a community app' before a judge asks it. The community is a legal body that votes - that is the difference from a marketplace.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money moment. Read the quote off the right card verbatim - it is the app's actual wording. In the live demo the seeded member is Farhan Qureshi; if a judge spots the name, say the register ships with its own 13 members and Ramesh is the one we are following.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Low-literacy is the real accessibility story in Indian gig work and almost nobody builds for it. If you only have time for one on-device feature in the demo, show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On-device is not a rubric box we tick - the ownership argument forces it. Deliver the three reasons as consequences of workers owning the platform, not as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in an AI hackathon. Land the last line: we removed the capability, we did not add a disclaimer. If probed: there is a test asserting the ticket object has no payout, rank, score, workerId or decision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live. The handshake is the proof that the OTP is real and not theatre - the worker literally cannot proceed until the customer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'enacted', not 'enforced' - I did not confirm the rules are notified. Act 72 of 2025, full text on PRS India if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judge who has had work done at home recognises this moment. Use it - it is the most relatable slide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obvious attack: what stops members voting away the floor? Answer: the validator rejects it before the ballot, and a test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 claim: ours never hands NEW work to a member already at their limit; the other rule does it eleven times. Do not say 'nobody worked past their limit' - the panel footnotes a member who finished slightly over and a sharp judge will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CAREFUL WORDING: 'a union has alleged and demanded an independent audit'. Never say the cooperative fired anyone. The defensible version cannot be challenged and is already devastating.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'payments are mocked' before they find it converts a weakness into credibility, then pivot straight to the build order so you end on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the quote. Say it slowly, in Ramesh's voice, not yours. Then stop - no thank-you paragraph. Leave the three cards up while you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FULL">
    <p:bg>
      <p:bgPr>
        <a:solidFill>
          <a:srgbClr val="183C3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2011680"/>
            <a:ext cx="11027664" cy="1371600"/>
          </a:xfrm>
          <a:prstGeom prst="rect">
            <a:avLst/>
          </a:prstGeom>
          <a:noFill/>
          <a:ln/>
        </p:spPr>
        <p:txBody>
          <a:bodyPr wrap="square" rtlCol="0"/>
          <a:lstStyle>
            <a:lvl1pPr algn="l" indent="0" marL="0">
              <a:buNone/>
              <a:defRPr lang="en-US" sz="5400" b="1" dirty="0">
                <a:solidFill>
                  <a:schemeClr val="accent2"/>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OP">
    <p:bg>
      <p:bgPr>
        <a:solidFill>
          <a:srgbClr val="183C3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E8179"/>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TOP">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NT_TOP">
    <p:bg>
      <p:bgPr>
        <a:solidFill>
          <a:srgbClr val="F7F7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E8179"/>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66928" y="1417320"/>
            <a:ext cx="11027664" cy="237744"/>
          </a:xfrm>
          <a:prstGeom prst="rect">
            <a:avLst/>
          </a:prstGeom>
          <a:noFill/>
          <a:ln/>
        </p:spPr>
        <p:txBody>
          <a:bodyPr wrap="square" lIns="0" tIns="0" rIns="0" bIns="0" rtlCol="0" anchor="ctr"/>
          <a:lstStyle/>
          <a:p>
            <a:pPr indent="0" marL="0">
              <a:buNone/>
            </a:pPr>
            <a:r>
              <a:rPr lang="en-US" sz="1100" b="1" spc="200" kern="0" dirty="0">
                <a:solidFill>
                  <a:srgbClr val="8FA89C"/>
                </a:solidFill>
              </a:rPr>
              <a:t>iQOO HACKATHON 2026  ·  GRAND FINALE  ·  BENGALURU  ·  9-11 OCTOBER</a:t>
            </a:r>
            <a:endParaRPr lang="en-US" sz="1100" dirty="0"/>
          </a:p>
        </p:txBody>
      </p:sp>
      <p:sp>
        <p:nvSpPr>
          <p:cNvPr id="3" name="Text 0"/>
          <p:cNvSpPr/>
          <p:nvPr>
            <p:ph idx="100" type="title" hasCustomPrompt="1"/>
          </p:nvPr>
        </p:nvSpPr>
        <p:spPr>
          <a:xfrm>
            <a:off x="566928" y="2011680"/>
            <a:ext cx="11027664" cy="1371600"/>
          </a:xfrm>
          <a:prstGeom prst="rect">
            <a:avLst/>
          </a:prstGeom>
          <a:noFill/>
          <a:ln/>
        </p:spPr>
        <p:txBody>
          <a:bodyPr wrap="square" rtlCol="0" anchor="ctr"/>
          <a:lstStyle/>
          <a:p>
            <a:pPr algn="l" indent="0" marL="0">
              <a:buNone/>
            </a:pPr>
            <a:r>
              <a:rPr lang="en-US" sz="5400" b="1" dirty="0">
                <a:solidFill>
                  <a:schemeClr val="accent2"/>
                </a:solidFill>
              </a:rPr>
              <a:t>KaamSabha</a:t>
            </a:r>
            <a:endParaRPr lang="en-US" sz="5400" dirty="0"/>
          </a:p>
        </p:txBody>
      </p:sp>
      <p:sp>
        <p:nvSpPr>
          <p:cNvPr id="4" name="Text 2"/>
          <p:cNvSpPr txBox="1"/>
          <p:nvPr/>
        </p:nvSpPr>
        <p:spPr>
          <a:xfrm>
            <a:off x="566928" y="3429000"/>
            <a:ext cx="8778240" cy="731520"/>
          </a:xfrm>
          <a:prstGeom prst="rect">
            <a:avLst/>
          </a:prstGeom>
          <a:noFill/>
          <a:ln/>
        </p:spPr>
        <p:txBody>
          <a:bodyPr wrap="square" lIns="0" tIns="0" rIns="0" bIns="0" rtlCol="0" anchor="ctr"/>
          <a:lstStyle/>
          <a:p>
            <a:pPr indent="0" marL="0">
              <a:lnSpc>
                <a:spcPts val="2800"/>
              </a:lnSpc>
              <a:buNone/>
            </a:pPr>
            <a:r>
              <a:rPr lang="en-US" sz="1900" dirty="0">
                <a:solidFill>
                  <a:srgbClr val="D9E3DE"/>
                </a:solidFill>
              </a:rPr>
              <a:t>One month in the working life of Ramesh — and the rulebook his cooperative wrote for him.</a:t>
            </a:r>
            <a:endParaRPr lang="en-US" sz="1900" dirty="0"/>
          </a:p>
        </p:txBody>
      </p:sp>
      <p:sp>
        <p:nvSpPr>
          <p:cNvPr id="5" name="card"/>
          <p:cNvSpPr/>
          <p:nvPr/>
        </p:nvSpPr>
        <p:spPr>
          <a:xfrm>
            <a:off x="566928" y="4526280"/>
            <a:ext cx="2788920" cy="566928"/>
          </a:xfrm>
          <a:prstGeom prst="roundRect">
            <a:avLst>
              <a:gd name="adj" fmla="val 16129"/>
            </a:avLst>
          </a:prstGeom>
          <a:solidFill>
            <a:srgbClr val="D6ED8D"/>
          </a:solidFill>
          <a:ln w="12700">
            <a:solidFill>
              <a:srgbClr val="D6ED8D"/>
            </a:solidFill>
            <a:prstDash val="solid"/>
          </a:ln>
        </p:spPr>
      </p:sp>
      <p:sp>
        <p:nvSpPr>
          <p:cNvPr id="6" name="Text 4"/>
          <p:cNvSpPr txBox="1"/>
          <p:nvPr/>
        </p:nvSpPr>
        <p:spPr>
          <a:xfrm>
            <a:off x="566928" y="4526280"/>
            <a:ext cx="2788920" cy="566928"/>
          </a:xfrm>
          <a:prstGeom prst="rect">
            <a:avLst/>
          </a:prstGeom>
          <a:noFill/>
          <a:ln/>
        </p:spPr>
        <p:txBody>
          <a:bodyPr wrap="square" lIns="0" tIns="0" rIns="0" bIns="0" rtlCol="0" anchor="ctr"/>
          <a:lstStyle/>
          <a:p>
            <a:pPr algn="ctr" indent="0" marL="0">
              <a:buNone/>
            </a:pPr>
            <a:r>
              <a:rPr lang="en-US" sz="1250" b="1" spc="120" kern="0" dirty="0">
                <a:solidFill>
                  <a:srgbClr val="173D31"/>
                </a:solidFill>
              </a:rPr>
              <a:t>TRACK: COMMUNITY APP</a:t>
            </a:r>
            <a:endParaRPr lang="en-US" sz="1250" dirty="0"/>
          </a:p>
        </p:txBody>
      </p:sp>
      <p:sp>
        <p:nvSpPr>
          <p:cNvPr id="7" name="Text 5"/>
          <p:cNvSpPr txBox="1"/>
          <p:nvPr/>
        </p:nvSpPr>
        <p:spPr>
          <a:xfrm>
            <a:off x="3611880" y="4526280"/>
            <a:ext cx="7955280" cy="566928"/>
          </a:xfrm>
          <a:prstGeom prst="rect">
            <a:avLst/>
          </a:prstGeom>
          <a:noFill/>
          <a:ln/>
        </p:spPr>
        <p:txBody>
          <a:bodyPr wrap="square" lIns="0" tIns="0" rIns="0" bIns="0" rtlCol="0" anchor="ctr"/>
          <a:lstStyle/>
          <a:p>
            <a:pPr indent="0" marL="0">
              <a:buNone/>
            </a:pPr>
            <a:r>
              <a:rPr lang="en-US" sz="1300" dirty="0">
                <a:solidFill>
                  <a:srgbClr val="8FA89C"/>
                </a:solidFill>
              </a:rPr>
              <a:t>On-device AI  ·  Deterministic allocation  ·  131 automated tests  ·  English, Hindi, Marathi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Meet Ramesh</a:t>
            </a:r>
            <a:endParaRPr lang="en-US" sz="3400" dirty="0"/>
          </a:p>
        </p:txBody>
      </p:sp>
      <p:sp>
        <p:nvSpPr>
          <p:cNvPr id="3" name="card"/>
          <p:cNvSpPr/>
          <p:nvPr/>
        </p:nvSpPr>
        <p:spPr>
          <a:xfrm>
            <a:off x="566928" y="1389888"/>
            <a:ext cx="5120640" cy="3291840"/>
          </a:xfrm>
          <a:prstGeom prst="roundRect">
            <a:avLst>
              <a:gd name="adj" fmla="val 2778"/>
            </a:avLst>
          </a:prstGeom>
          <a:solidFill>
            <a:srgbClr val="183C31"/>
          </a:solidFill>
          <a:ln w="12700">
            <a:solidFill>
              <a:srgbClr val="183C31"/>
            </a:solidFill>
            <a:prstDash val="solid"/>
          </a:ln>
        </p:spPr>
      </p:sp>
      <p:sp>
        <p:nvSpPr>
          <p:cNvPr id="4" name="Text 2"/>
          <p:cNvSpPr txBox="1"/>
          <p:nvPr/>
        </p:nvSpPr>
        <p:spPr>
          <a:xfrm>
            <a:off x="877824" y="1700784"/>
            <a:ext cx="4480560" cy="457200"/>
          </a:xfrm>
          <a:prstGeom prst="rect">
            <a:avLst/>
          </a:prstGeom>
          <a:noFill/>
          <a:ln/>
        </p:spPr>
        <p:txBody>
          <a:bodyPr wrap="square" lIns="0" tIns="0" rIns="0" bIns="0" rtlCol="0" anchor="ctr"/>
          <a:lstStyle/>
          <a:p>
            <a:pPr indent="0" marL="0">
              <a:buNone/>
            </a:pPr>
            <a:r>
              <a:rPr lang="en-US" sz="2700" b="1" dirty="0">
                <a:solidFill>
                  <a:srgbClr val="D6ED8D"/>
                </a:solidFill>
              </a:rPr>
              <a:t>Ramesh Shinde</a:t>
            </a:r>
            <a:endParaRPr lang="en-US" sz="2700" dirty="0"/>
          </a:p>
        </p:txBody>
      </p:sp>
      <p:sp>
        <p:nvSpPr>
          <p:cNvPr id="5" name="Text 3"/>
          <p:cNvSpPr txBox="1"/>
          <p:nvPr/>
        </p:nvSpPr>
        <p:spPr>
          <a:xfrm>
            <a:off x="877824" y="2176272"/>
            <a:ext cx="4480560" cy="512064"/>
          </a:xfrm>
          <a:prstGeom prst="rect">
            <a:avLst/>
          </a:prstGeom>
          <a:noFill/>
          <a:ln/>
        </p:spPr>
        <p:txBody>
          <a:bodyPr wrap="square" lIns="0" tIns="0" rIns="0" bIns="0" rtlCol="0" anchor="ctr"/>
          <a:lstStyle/>
          <a:p>
            <a:pPr indent="0" marL="0">
              <a:lnSpc>
                <a:spcPts val="1900"/>
              </a:lnSpc>
              <a:buNone/>
            </a:pPr>
            <a:r>
              <a:rPr lang="en-US" sz="1400" dirty="0">
                <a:solidFill>
                  <a:srgbClr val="C8D6CF"/>
                </a:solidFill>
              </a:rPr>
              <a:t>Electrician. Eleven years on the tools. Kharadi, Pune.</a:t>
            </a:r>
            <a:endParaRPr lang="en-US" sz="1400" dirty="0"/>
          </a:p>
        </p:txBody>
      </p:sp>
      <p:sp>
        <p:nvSpPr>
          <p:cNvPr id="6" name="Text 4"/>
          <p:cNvSpPr txBox="1"/>
          <p:nvPr/>
        </p:nvSpPr>
        <p:spPr>
          <a:xfrm>
            <a:off x="877824" y="2743200"/>
            <a:ext cx="1051560" cy="384048"/>
          </a:xfrm>
          <a:prstGeom prst="rect">
            <a:avLst/>
          </a:prstGeom>
          <a:noFill/>
          <a:ln/>
        </p:spPr>
        <p:txBody>
          <a:bodyPr wrap="square" lIns="0" tIns="0" rIns="0" bIns="0" rtlCol="0" anchor="ctr"/>
          <a:lstStyle/>
          <a:p>
            <a:pPr indent="0" marL="0">
              <a:buNone/>
            </a:pPr>
            <a:r>
              <a:rPr lang="en-US" sz="1200" b="1" dirty="0">
                <a:solidFill>
                  <a:srgbClr val="8FA89C"/>
                </a:solidFill>
              </a:rPr>
              <a:t>Works</a:t>
            </a:r>
            <a:endParaRPr lang="en-US" sz="1200" dirty="0"/>
          </a:p>
        </p:txBody>
      </p:sp>
      <p:sp>
        <p:nvSpPr>
          <p:cNvPr id="7" name="Text 5"/>
          <p:cNvSpPr txBox="1"/>
          <p:nvPr/>
        </p:nvSpPr>
        <p:spPr>
          <a:xfrm>
            <a:off x="1956816" y="2743200"/>
            <a:ext cx="3401568" cy="384048"/>
          </a:xfrm>
          <a:prstGeom prst="rect">
            <a:avLst/>
          </a:prstGeom>
          <a:noFill/>
          <a:ln/>
        </p:spPr>
        <p:txBody>
          <a:bodyPr wrap="square" lIns="0" tIns="0" rIns="0" bIns="0" rtlCol="0" anchor="ctr"/>
          <a:lstStyle/>
          <a:p>
            <a:pPr indent="0" marL="0">
              <a:buNone/>
            </a:pPr>
            <a:r>
              <a:rPr lang="en-US" sz="1250" dirty="0">
                <a:solidFill>
                  <a:srgbClr val="FFFFFF"/>
                </a:solidFill>
              </a:rPr>
              <a:t>6 days a week, 8-hour ceiling he sets himself</a:t>
            </a:r>
            <a:endParaRPr lang="en-US" sz="1250" dirty="0"/>
          </a:p>
        </p:txBody>
      </p:sp>
      <p:sp>
        <p:nvSpPr>
          <p:cNvPr id="8" name="Text 6"/>
          <p:cNvSpPr txBox="1"/>
          <p:nvPr/>
        </p:nvSpPr>
        <p:spPr>
          <a:xfrm>
            <a:off x="877824" y="3310128"/>
            <a:ext cx="1051560" cy="384048"/>
          </a:xfrm>
          <a:prstGeom prst="rect">
            <a:avLst/>
          </a:prstGeom>
          <a:noFill/>
          <a:ln/>
        </p:spPr>
        <p:txBody>
          <a:bodyPr wrap="square" lIns="0" tIns="0" rIns="0" bIns="0" rtlCol="0" anchor="ctr"/>
          <a:lstStyle/>
          <a:p>
            <a:pPr indent="0" marL="0">
              <a:buNone/>
            </a:pPr>
            <a:r>
              <a:rPr lang="en-US" sz="1200" b="1" dirty="0">
                <a:solidFill>
                  <a:srgbClr val="8FA89C"/>
                </a:solidFill>
              </a:rPr>
              <a:t>Earns</a:t>
            </a:r>
            <a:endParaRPr lang="en-US" sz="1200" dirty="0"/>
          </a:p>
        </p:txBody>
      </p:sp>
      <p:sp>
        <p:nvSpPr>
          <p:cNvPr id="9" name="Text 7"/>
          <p:cNvSpPr txBox="1"/>
          <p:nvPr/>
        </p:nvSpPr>
        <p:spPr>
          <a:xfrm>
            <a:off x="1956816" y="3310128"/>
            <a:ext cx="3401568" cy="384048"/>
          </a:xfrm>
          <a:prstGeom prst="rect">
            <a:avLst/>
          </a:prstGeom>
          <a:noFill/>
          <a:ln/>
        </p:spPr>
        <p:txBody>
          <a:bodyPr wrap="square" lIns="0" tIns="0" rIns="0" bIns="0" rtlCol="0" anchor="ctr"/>
          <a:lstStyle/>
          <a:p>
            <a:pPr indent="0" marL="0">
              <a:buNone/>
            </a:pPr>
            <a:r>
              <a:rPr lang="en-US" sz="1250" dirty="0">
                <a:solidFill>
                  <a:srgbClr val="FFFFFF"/>
                </a:solidFill>
              </a:rPr>
              <a:t>₹760 on a standard job — a protected floor, not a bid</a:t>
            </a:r>
            <a:endParaRPr lang="en-US" sz="1250" dirty="0"/>
          </a:p>
        </p:txBody>
      </p:sp>
      <p:sp>
        <p:nvSpPr>
          <p:cNvPr id="10" name="Text 8"/>
          <p:cNvSpPr txBox="1"/>
          <p:nvPr/>
        </p:nvSpPr>
        <p:spPr>
          <a:xfrm>
            <a:off x="877824" y="3877056"/>
            <a:ext cx="1051560" cy="384048"/>
          </a:xfrm>
          <a:prstGeom prst="rect">
            <a:avLst/>
          </a:prstGeom>
          <a:noFill/>
          <a:ln/>
        </p:spPr>
        <p:txBody>
          <a:bodyPr wrap="square" lIns="0" tIns="0" rIns="0" bIns="0" rtlCol="0" anchor="ctr"/>
          <a:lstStyle/>
          <a:p>
            <a:pPr indent="0" marL="0">
              <a:buNone/>
            </a:pPr>
            <a:r>
              <a:rPr lang="en-US" sz="1200" b="1" dirty="0">
                <a:solidFill>
                  <a:srgbClr val="8FA89C"/>
                </a:solidFill>
              </a:rPr>
              <a:t>Reads</a:t>
            </a:r>
            <a:endParaRPr lang="en-US" sz="1200" dirty="0"/>
          </a:p>
        </p:txBody>
      </p:sp>
      <p:sp>
        <p:nvSpPr>
          <p:cNvPr id="11" name="Text 9"/>
          <p:cNvSpPr txBox="1"/>
          <p:nvPr/>
        </p:nvSpPr>
        <p:spPr>
          <a:xfrm>
            <a:off x="1956816" y="3877056"/>
            <a:ext cx="3401568" cy="384048"/>
          </a:xfrm>
          <a:prstGeom prst="rect">
            <a:avLst/>
          </a:prstGeom>
          <a:noFill/>
          <a:ln/>
        </p:spPr>
        <p:txBody>
          <a:bodyPr wrap="square" lIns="0" tIns="0" rIns="0" bIns="0" rtlCol="0" anchor="ctr"/>
          <a:lstStyle/>
          <a:p>
            <a:pPr indent="0" marL="0">
              <a:buNone/>
            </a:pPr>
            <a:r>
              <a:rPr lang="en-US" sz="1250" dirty="0">
                <a:solidFill>
                  <a:srgbClr val="FFFFFF"/>
                </a:solidFill>
              </a:rPr>
              <a:t>Marathi comfortably. English on a form, slowly.</a:t>
            </a:r>
            <a:endParaRPr lang="en-US" sz="1250" dirty="0"/>
          </a:p>
        </p:txBody>
      </p:sp>
      <p:sp>
        <p:nvSpPr>
          <p:cNvPr id="12" name="card"/>
          <p:cNvSpPr/>
          <p:nvPr/>
        </p:nvSpPr>
        <p:spPr>
          <a:xfrm>
            <a:off x="6016752" y="1389888"/>
            <a:ext cx="5577840" cy="3291840"/>
          </a:xfrm>
          <a:prstGeom prst="roundRect">
            <a:avLst>
              <a:gd name="adj" fmla="val 2778"/>
            </a:avLst>
          </a:prstGeom>
          <a:solidFill>
            <a:srgbClr val="FFFFFF"/>
          </a:solidFill>
          <a:ln w="12700">
            <a:solidFill>
              <a:srgbClr val="DCE2DD"/>
            </a:solidFill>
            <a:prstDash val="solid"/>
          </a:ln>
        </p:spPr>
      </p:sp>
      <p:sp>
        <p:nvSpPr>
          <p:cNvPr id="13" name="eyebrow"/>
          <p:cNvSpPr txBox="1"/>
          <p:nvPr/>
        </p:nvSpPr>
        <p:spPr>
          <a:xfrm>
            <a:off x="6309360" y="1682496"/>
            <a:ext cx="5029200" cy="237744"/>
          </a:xfrm>
          <a:prstGeom prst="rect">
            <a:avLst/>
          </a:prstGeom>
          <a:noFill/>
          <a:ln/>
        </p:spPr>
        <p:txBody>
          <a:bodyPr wrap="square" lIns="0" tIns="0" rIns="0" bIns="0" rtlCol="0" anchor="ctr"/>
          <a:lstStyle/>
          <a:p>
            <a:pPr indent="0" marL="0">
              <a:buNone/>
            </a:pPr>
            <a:r>
              <a:rPr lang="en-US" sz="1100" b="1" spc="200" kern="0" dirty="0">
                <a:solidFill>
                  <a:srgbClr val="9C382F"/>
                </a:solidFill>
              </a:rPr>
              <a:t>WHAT HE HAS NEVER BEEN ABLE TO GET</a:t>
            </a:r>
            <a:endParaRPr lang="en-US" sz="1100" dirty="0"/>
          </a:p>
        </p:txBody>
      </p:sp>
      <p:sp>
        <p:nvSpPr>
          <p:cNvPr id="14" name="Text 12"/>
          <p:cNvSpPr txBox="1"/>
          <p:nvPr/>
        </p:nvSpPr>
        <p:spPr>
          <a:xfrm>
            <a:off x="6309360" y="2011680"/>
            <a:ext cx="5029200" cy="621792"/>
          </a:xfrm>
          <a:prstGeom prst="rect">
            <a:avLst/>
          </a:prstGeom>
          <a:noFill/>
          <a:ln/>
        </p:spPr>
        <p:txBody>
          <a:bodyPr wrap="square" lIns="0" tIns="0" rIns="0" bIns="0" rtlCol="0" anchor="ctr"/>
          <a:lstStyle/>
          <a:p>
            <a:pPr indent="0" marL="0">
              <a:buNone/>
            </a:pPr>
            <a:r>
              <a:rPr lang="en-US" sz="3800" b="1" dirty="0">
                <a:solidFill>
                  <a:srgbClr val="173D31"/>
                </a:solidFill>
              </a:rPr>
              <a:t>A reason.</a:t>
            </a:r>
            <a:endParaRPr lang="en-US" sz="3800" dirty="0"/>
          </a:p>
        </p:txBody>
      </p:sp>
      <p:sp>
        <p:nvSpPr>
          <p:cNvPr id="15" name="Text 13"/>
          <p:cNvSpPr txBox="1"/>
          <p:nvPr/>
        </p:nvSpPr>
        <p:spPr>
          <a:xfrm>
            <a:off x="6309360" y="2724912"/>
            <a:ext cx="5029200" cy="1051560"/>
          </a:xfrm>
          <a:prstGeom prst="rect">
            <a:avLst/>
          </a:prstGeom>
          <a:noFill/>
          <a:ln/>
        </p:spPr>
        <p:txBody>
          <a:bodyPr wrap="square" lIns="0" tIns="0" rIns="0" bIns="0" rtlCol="0" anchor="ctr"/>
          <a:lstStyle/>
          <a:p>
            <a:pPr indent="0" marL="0">
              <a:lnSpc>
                <a:spcPts val="2000"/>
              </a:lnSpc>
              <a:buNone/>
            </a:pPr>
            <a:r>
              <a:rPr lang="en-US" sz="1400" dirty="0">
                <a:solidFill>
                  <a:srgbClr val="5A6660"/>
                </a:solidFill>
              </a:rPr>
              <a:t>Not more money. Not fewer rules. A reason — for why a job went to somebody else, why his account was frozen, why the commission changed last Tuesday.</a:t>
            </a:r>
            <a:endParaRPr lang="en-US" sz="1400" dirty="0"/>
          </a:p>
        </p:txBody>
      </p:sp>
      <p:sp>
        <p:nvSpPr>
          <p:cNvPr id="16" name="Text 14"/>
          <p:cNvSpPr txBox="1"/>
          <p:nvPr/>
        </p:nvSpPr>
        <p:spPr>
          <a:xfrm>
            <a:off x="6309360" y="3840480"/>
            <a:ext cx="5029200" cy="548640"/>
          </a:xfrm>
          <a:prstGeom prst="rect">
            <a:avLst/>
          </a:prstGeom>
          <a:noFill/>
          <a:ln/>
        </p:spPr>
        <p:txBody>
          <a:bodyPr wrap="square" lIns="0" tIns="0" rIns="0" bIns="0" rtlCol="0" anchor="ctr"/>
          <a:lstStyle/>
          <a:p>
            <a:pPr indent="0" marL="0">
              <a:lnSpc>
                <a:spcPts val="1900"/>
              </a:lnSpc>
              <a:buNone/>
            </a:pPr>
            <a:r>
              <a:rPr lang="en-US" sz="1400" b="1" i="1" dirty="0">
                <a:solidFill>
                  <a:srgbClr val="176B52"/>
                </a:solidFill>
              </a:rPr>
              <a:t>Every screen that follows is built to answer that one question.</a:t>
            </a:r>
            <a:endParaRPr lang="en-US" sz="1400" dirty="0"/>
          </a:p>
        </p:txBody>
      </p:sp>
      <p:sp>
        <p:nvSpPr>
          <p:cNvPr id="17"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18" name="Text 16"/>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DAY 0  ·  BEFORE ANY OF THIS WORKS, SOMEONE HAS TO OWE HIM AN ANSWER</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Ramesh is not an unusual case</a:t>
            </a:r>
            <a:endParaRPr lang="en-US" sz="3400" dirty="0"/>
          </a:p>
        </p:txBody>
      </p:sp>
      <p:sp>
        <p:nvSpPr>
          <p:cNvPr id="3" name="card"/>
          <p:cNvSpPr/>
          <p:nvPr/>
        </p:nvSpPr>
        <p:spPr>
          <a:xfrm>
            <a:off x="566928" y="1371600"/>
            <a:ext cx="11027664" cy="1463040"/>
          </a:xfrm>
          <a:prstGeom prst="roundRect">
            <a:avLst>
              <a:gd name="adj" fmla="val 6250"/>
            </a:avLst>
          </a:prstGeom>
          <a:solidFill>
            <a:srgbClr val="FFFFFF"/>
          </a:solidFill>
          <a:ln w="12700">
            <a:solidFill>
              <a:srgbClr val="DCE2DD"/>
            </a:solidFill>
            <a:prstDash val="solid"/>
          </a:ln>
        </p:spPr>
      </p:sp>
      <p:sp>
        <p:nvSpPr>
          <p:cNvPr id="4" name="Text 2"/>
          <p:cNvSpPr txBox="1"/>
          <p:nvPr/>
        </p:nvSpPr>
        <p:spPr>
          <a:xfrm>
            <a:off x="950976" y="1572768"/>
            <a:ext cx="10259568" cy="804672"/>
          </a:xfrm>
          <a:prstGeom prst="rect">
            <a:avLst/>
          </a:prstGeom>
          <a:noFill/>
          <a:ln/>
        </p:spPr>
        <p:txBody>
          <a:bodyPr wrap="square" lIns="0" tIns="0" rIns="0" bIns="0" rtlCol="0" anchor="ctr"/>
          <a:lstStyle/>
          <a:p>
            <a:pPr indent="0" marL="0">
              <a:lnSpc>
                <a:spcPts val="2800"/>
              </a:lnSpc>
              <a:buNone/>
            </a:pPr>
            <a:r>
              <a:rPr lang="en-US" sz="2000" i="1" dirty="0">
                <a:solidFill>
                  <a:srgbClr val="173D31"/>
                </a:solidFill>
              </a:rPr>
              <a:t>“Arbitrary suspensions of accounts with no clarification of why it happens. Trips are allotted without any transparency.”</a:t>
            </a:r>
            <a:endParaRPr lang="en-US" sz="2000" dirty="0"/>
          </a:p>
        </p:txBody>
      </p:sp>
      <p:sp>
        <p:nvSpPr>
          <p:cNvPr id="5" name="Text 3"/>
          <p:cNvSpPr txBox="1"/>
          <p:nvPr/>
        </p:nvSpPr>
        <p:spPr>
          <a:xfrm>
            <a:off x="950976" y="2395728"/>
            <a:ext cx="10259568" cy="310896"/>
          </a:xfrm>
          <a:prstGeom prst="rect">
            <a:avLst/>
          </a:prstGeom>
          <a:noFill/>
          <a:ln/>
        </p:spPr>
        <p:txBody>
          <a:bodyPr wrap="square" lIns="0" tIns="0" rIns="0" bIns="0" rtlCol="0" anchor="ctr"/>
          <a:lstStyle/>
          <a:p>
            <a:pPr indent="0" marL="0">
              <a:buNone/>
            </a:pPr>
            <a:r>
              <a:rPr lang="en-US" sz="1200" b="1" dirty="0">
                <a:solidFill>
                  <a:srgbClr val="6F7A74"/>
                </a:solidFill>
              </a:rPr>
              <a:t>Shaik Salauddin  ·  National General Secretary, Indian Federation of App-Based Transport Workers</a:t>
            </a:r>
            <a:endParaRPr lang="en-US" sz="1200" dirty="0"/>
          </a:p>
        </p:txBody>
      </p:sp>
      <p:sp>
        <p:nvSpPr>
          <p:cNvPr id="6" name="card"/>
          <p:cNvSpPr/>
          <p:nvPr/>
        </p:nvSpPr>
        <p:spPr>
          <a:xfrm>
            <a:off x="566928" y="3017520"/>
            <a:ext cx="3456432" cy="1572768"/>
          </a:xfrm>
          <a:prstGeom prst="roundRect">
            <a:avLst>
              <a:gd name="adj" fmla="val 5814"/>
            </a:avLst>
          </a:prstGeom>
          <a:solidFill>
            <a:srgbClr val="FFFFFF"/>
          </a:solidFill>
          <a:ln w="12700">
            <a:solidFill>
              <a:srgbClr val="DCE2DD"/>
            </a:solidFill>
            <a:prstDash val="solid"/>
          </a:ln>
        </p:spPr>
      </p:sp>
      <p:sp>
        <p:nvSpPr>
          <p:cNvPr id="7" name="Text 5"/>
          <p:cNvSpPr txBox="1"/>
          <p:nvPr/>
        </p:nvSpPr>
        <p:spPr>
          <a:xfrm>
            <a:off x="822960" y="3236976"/>
            <a:ext cx="2944368" cy="585216"/>
          </a:xfrm>
          <a:prstGeom prst="rect">
            <a:avLst/>
          </a:prstGeom>
          <a:noFill/>
          <a:ln/>
        </p:spPr>
        <p:txBody>
          <a:bodyPr wrap="square" lIns="0" tIns="0" rIns="0" bIns="0" rtlCol="0" anchor="ctr"/>
          <a:lstStyle/>
          <a:p>
            <a:pPr indent="0" marL="0">
              <a:buNone/>
            </a:pPr>
            <a:r>
              <a:rPr lang="en-US" sz="3400" b="1" dirty="0">
                <a:solidFill>
                  <a:srgbClr val="9C382F"/>
                </a:solidFill>
              </a:rPr>
              <a:t>40,000</a:t>
            </a:r>
            <a:endParaRPr lang="en-US" sz="3400" dirty="0"/>
          </a:p>
        </p:txBody>
      </p:sp>
      <p:sp>
        <p:nvSpPr>
          <p:cNvPr id="8" name="Text 6"/>
          <p:cNvSpPr txBox="1"/>
          <p:nvPr/>
        </p:nvSpPr>
        <p:spPr>
          <a:xfrm>
            <a:off x="822960" y="3877056"/>
            <a:ext cx="2944368" cy="621792"/>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workers struck on 25 December over arbitrary algorithmic control</a:t>
            </a:r>
            <a:endParaRPr lang="en-US" sz="1200" dirty="0"/>
          </a:p>
        </p:txBody>
      </p:sp>
      <p:sp>
        <p:nvSpPr>
          <p:cNvPr id="9" name="card"/>
          <p:cNvSpPr/>
          <p:nvPr/>
        </p:nvSpPr>
        <p:spPr>
          <a:xfrm>
            <a:off x="4352544" y="3017520"/>
            <a:ext cx="3456432" cy="1572768"/>
          </a:xfrm>
          <a:prstGeom prst="roundRect">
            <a:avLst>
              <a:gd name="adj" fmla="val 5814"/>
            </a:avLst>
          </a:prstGeom>
          <a:solidFill>
            <a:srgbClr val="FFFFFF"/>
          </a:solidFill>
          <a:ln w="12700">
            <a:solidFill>
              <a:srgbClr val="DCE2DD"/>
            </a:solidFill>
            <a:prstDash val="solid"/>
          </a:ln>
        </p:spPr>
      </p:sp>
      <p:sp>
        <p:nvSpPr>
          <p:cNvPr id="10" name="Text 8"/>
          <p:cNvSpPr txBox="1"/>
          <p:nvPr/>
        </p:nvSpPr>
        <p:spPr>
          <a:xfrm>
            <a:off x="4608576" y="3236976"/>
            <a:ext cx="2944368" cy="585216"/>
          </a:xfrm>
          <a:prstGeom prst="rect">
            <a:avLst/>
          </a:prstGeom>
          <a:noFill/>
          <a:ln/>
        </p:spPr>
        <p:txBody>
          <a:bodyPr wrap="square" lIns="0" tIns="0" rIns="0" bIns="0" rtlCol="0" anchor="ctr"/>
          <a:lstStyle/>
          <a:p>
            <a:pPr indent="0" marL="0">
              <a:buNone/>
            </a:pPr>
            <a:r>
              <a:rPr lang="en-US" sz="2200" b="1" dirty="0">
                <a:solidFill>
                  <a:srgbClr val="9C382F"/>
                </a:solidFill>
              </a:rPr>
              <a:t>Supreme Court</a:t>
            </a:r>
            <a:endParaRPr lang="en-US" sz="2200" dirty="0"/>
          </a:p>
        </p:txBody>
      </p:sp>
      <p:sp>
        <p:nvSpPr>
          <p:cNvPr id="11" name="Text 9"/>
          <p:cNvSpPr txBox="1"/>
          <p:nvPr/>
        </p:nvSpPr>
        <p:spPr>
          <a:xfrm>
            <a:off x="4608576" y="3877056"/>
            <a:ext cx="2944368" cy="621792"/>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IFAT v. Union of India challenges deactivation without reasons</a:t>
            </a:r>
            <a:endParaRPr lang="en-US" sz="1200" dirty="0"/>
          </a:p>
        </p:txBody>
      </p:sp>
      <p:sp>
        <p:nvSpPr>
          <p:cNvPr id="12" name="card"/>
          <p:cNvSpPr/>
          <p:nvPr/>
        </p:nvSpPr>
        <p:spPr>
          <a:xfrm>
            <a:off x="8138160" y="3017520"/>
            <a:ext cx="3456432" cy="1572768"/>
          </a:xfrm>
          <a:prstGeom prst="roundRect">
            <a:avLst>
              <a:gd name="adj" fmla="val 5814"/>
            </a:avLst>
          </a:prstGeom>
          <a:solidFill>
            <a:srgbClr val="FFFFFF"/>
          </a:solidFill>
          <a:ln w="12700">
            <a:solidFill>
              <a:srgbClr val="DCE2DD"/>
            </a:solidFill>
            <a:prstDash val="solid"/>
          </a:ln>
        </p:spPr>
      </p:sp>
      <p:sp>
        <p:nvSpPr>
          <p:cNvPr id="13" name="Text 11"/>
          <p:cNvSpPr txBox="1"/>
          <p:nvPr/>
        </p:nvSpPr>
        <p:spPr>
          <a:xfrm>
            <a:off x="8394192" y="3236976"/>
            <a:ext cx="2944368" cy="585216"/>
          </a:xfrm>
          <a:prstGeom prst="rect">
            <a:avLst/>
          </a:prstGeom>
          <a:noFill/>
          <a:ln/>
        </p:spPr>
        <p:txBody>
          <a:bodyPr wrap="square" lIns="0" tIns="0" rIns="0" bIns="0" rtlCol="0" anchor="ctr"/>
          <a:lstStyle/>
          <a:p>
            <a:pPr indent="0" marL="0">
              <a:buNone/>
            </a:pPr>
            <a:r>
              <a:rPr lang="en-US" sz="3400" b="1" dirty="0">
                <a:solidFill>
                  <a:srgbClr val="9C382F"/>
                </a:solidFill>
              </a:rPr>
              <a:t>6 / 10</a:t>
            </a:r>
            <a:endParaRPr lang="en-US" sz="3400" dirty="0"/>
          </a:p>
        </p:txBody>
      </p:sp>
      <p:sp>
        <p:nvSpPr>
          <p:cNvPr id="14" name="Text 12"/>
          <p:cNvSpPr txBox="1"/>
          <p:nvPr/>
        </p:nvSpPr>
        <p:spPr>
          <a:xfrm>
            <a:off x="8394192" y="3877056"/>
            <a:ext cx="2944368" cy="621792"/>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the best Fairwork score in India. Three platforms scored zero.</a:t>
            </a:r>
            <a:endParaRPr lang="en-US" sz="1200" dirty="0"/>
          </a:p>
        </p:txBody>
      </p:sp>
      <p:sp>
        <p:nvSpPr>
          <p:cNvPr id="15" name="Text 13"/>
          <p:cNvSpPr txBox="1"/>
          <p:nvPr/>
        </p:nvSpPr>
        <p:spPr>
          <a:xfrm>
            <a:off x="566928" y="4754880"/>
            <a:ext cx="11027664" cy="274320"/>
          </a:xfrm>
          <a:prstGeom prst="rect">
            <a:avLst/>
          </a:prstGeom>
          <a:noFill/>
          <a:ln/>
        </p:spPr>
        <p:txBody>
          <a:bodyPr wrap="square" lIns="0" tIns="0" rIns="0" bIns="0" rtlCol="0" anchor="ctr"/>
          <a:lstStyle/>
          <a:p>
            <a:pPr indent="0" marL="0">
              <a:buNone/>
            </a:pPr>
            <a:r>
              <a:rPr lang="en-US" sz="1000" dirty="0">
                <a:solidFill>
                  <a:srgbClr val="8C938E"/>
                </a:solidFill>
              </a:rPr>
              <a:t>Sources: IFAT via MediaNama 2026 · Progressive International 2025 · Fairwork India, Oxford Internet Institute + IIIT-Bangalore</a:t>
            </a:r>
            <a:endParaRPr lang="en-US" sz="1000" dirty="0"/>
          </a:p>
        </p:txBody>
      </p:sp>
      <p:sp>
        <p:nvSpPr>
          <p:cNvPr id="16"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17" name="Text 15"/>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DAY 0  ·  A UNION WROTE THIS PROBLEM STATEMENT, NOT US</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Ramesh joins a cooperative, not a platform</a:t>
            </a:r>
            <a:endParaRPr lang="en-US" sz="3400" dirty="0"/>
          </a:p>
        </p:txBody>
      </p:sp>
      <p:sp>
        <p:nvSpPr>
          <p:cNvPr id="3" name="card"/>
          <p:cNvSpPr/>
          <p:nvPr/>
        </p:nvSpPr>
        <p:spPr>
          <a:xfrm>
            <a:off x="566928" y="1371600"/>
            <a:ext cx="11027664" cy="658368"/>
          </a:xfrm>
          <a:prstGeom prst="roundRect">
            <a:avLst>
              <a:gd name="adj" fmla="val 13889"/>
            </a:avLst>
          </a:prstGeom>
          <a:solidFill>
            <a:srgbClr val="F2F6F3"/>
          </a:solidFill>
          <a:ln w="12700">
            <a:solidFill>
              <a:srgbClr val="D7E2DB"/>
            </a:solidFill>
            <a:prstDash val="solid"/>
          </a:ln>
        </p:spPr>
      </p:sp>
      <p:sp>
        <p:nvSpPr>
          <p:cNvPr id="4" name="Text 2"/>
          <p:cNvSpPr txBox="1"/>
          <p:nvPr/>
        </p:nvSpPr>
        <p:spPr>
          <a:xfrm>
            <a:off x="822960" y="1371600"/>
            <a:ext cx="10515600" cy="658368"/>
          </a:xfrm>
          <a:prstGeom prst="rect">
            <a:avLst/>
          </a:prstGeom>
          <a:noFill/>
          <a:ln/>
        </p:spPr>
        <p:txBody>
          <a:bodyPr wrap="square" lIns="0" tIns="0" rIns="0" bIns="0" rtlCol="0" anchor="ctr"/>
          <a:lstStyle/>
          <a:p>
            <a:pPr indent="0" marL="0">
              <a:buNone/>
            </a:pPr>
            <a:r>
              <a:rPr lang="en-US" sz="1400" b="1" dirty="0">
                <a:solidFill>
                  <a:srgbClr val="173D31"/>
                </a:solidFill>
              </a:rPr>
              <a:t>The brief:  </a:t>
            </a:r>
            <a:pPr indent="0" marL="0">
              <a:buNone/>
            </a:pPr>
            <a:r>
              <a:rPr lang="en-US" sz="1400" i="1" dirty="0">
                <a:solidFill>
                  <a:srgbClr val="3F4B45"/>
                </a:solidFill>
              </a:rPr>
              <a:t>“connects developers, professionals, or interest groups, with AI (preferred to be on device) at the core.”</a:t>
            </a:r>
            <a:endParaRPr lang="en-US" sz="1400" dirty="0"/>
          </a:p>
        </p:txBody>
      </p:sp>
      <p:sp>
        <p:nvSpPr>
          <p:cNvPr id="5" name="card"/>
          <p:cNvSpPr/>
          <p:nvPr/>
        </p:nvSpPr>
        <p:spPr>
          <a:xfrm>
            <a:off x="566928" y="2267712"/>
            <a:ext cx="3456432" cy="2286000"/>
          </a:xfrm>
          <a:prstGeom prst="roundRect">
            <a:avLst>
              <a:gd name="adj" fmla="val 4000"/>
            </a:avLst>
          </a:prstGeom>
          <a:solidFill>
            <a:srgbClr val="FFFFFF"/>
          </a:solidFill>
          <a:ln w="12700">
            <a:solidFill>
              <a:srgbClr val="DCE2DD"/>
            </a:solidFill>
            <a:prstDash val="solid"/>
          </a:ln>
        </p:spPr>
      </p:sp>
      <p:sp>
        <p:nvSpPr>
          <p:cNvPr id="6" name="badge"/>
          <p:cNvSpPr/>
          <p:nvPr/>
        </p:nvSpPr>
        <p:spPr>
          <a:xfrm>
            <a:off x="841248" y="2523744"/>
            <a:ext cx="457200" cy="457200"/>
          </a:xfrm>
          <a:prstGeom prst="ellipse">
            <a:avLst/>
          </a:prstGeom>
          <a:solidFill>
            <a:srgbClr val="183C31"/>
          </a:solidFill>
          <a:ln w="12700">
            <a:solidFill>
              <a:srgbClr val="183C31"/>
            </a:solidFill>
            <a:prstDash val="solid"/>
          </a:ln>
        </p:spPr>
      </p:sp>
      <p:sp>
        <p:nvSpPr>
          <p:cNvPr id="7" name="Text 5"/>
          <p:cNvSpPr txBox="1"/>
          <p:nvPr/>
        </p:nvSpPr>
        <p:spPr>
          <a:xfrm>
            <a:off x="841248" y="2523744"/>
            <a:ext cx="457200" cy="457200"/>
          </a:xfrm>
          <a:prstGeom prst="rect">
            <a:avLst/>
          </a:prstGeom>
          <a:noFill/>
          <a:ln/>
        </p:spPr>
        <p:txBody>
          <a:bodyPr wrap="square" lIns="0" tIns="0" rIns="0" bIns="0" rtlCol="0" anchor="ctr"/>
          <a:lstStyle/>
          <a:p>
            <a:pPr algn="ctr" indent="0" marL="0">
              <a:buNone/>
            </a:pPr>
            <a:r>
              <a:rPr lang="en-US" sz="1400" b="1" dirty="0">
                <a:solidFill>
                  <a:srgbClr val="D6ED8D"/>
                </a:solidFill>
              </a:rPr>
              <a:t>1</a:t>
            </a:r>
            <a:endParaRPr lang="en-US" sz="1400" dirty="0"/>
          </a:p>
        </p:txBody>
      </p:sp>
      <p:sp>
        <p:nvSpPr>
          <p:cNvPr id="8" name="Text 6"/>
          <p:cNvSpPr txBox="1"/>
          <p:nvPr/>
        </p:nvSpPr>
        <p:spPr>
          <a:xfrm>
            <a:off x="841248" y="3108960"/>
            <a:ext cx="2907792" cy="512064"/>
          </a:xfrm>
          <a:prstGeom prst="rect">
            <a:avLst/>
          </a:prstGeom>
          <a:noFill/>
          <a:ln/>
        </p:spPr>
        <p:txBody>
          <a:bodyPr wrap="square" lIns="0" tIns="0" rIns="0" bIns="0" rtlCol="0" anchor="ctr"/>
          <a:lstStyle/>
          <a:p>
            <a:pPr indent="0" marL="0">
              <a:buNone/>
            </a:pPr>
            <a:r>
              <a:rPr lang="en-US" sz="1600" b="1" dirty="0">
                <a:solidFill>
                  <a:srgbClr val="173D31"/>
                </a:solidFill>
              </a:rPr>
              <a:t>Ramesh and 12 others</a:t>
            </a:r>
            <a:endParaRPr lang="en-US" sz="1600" dirty="0"/>
          </a:p>
        </p:txBody>
      </p:sp>
      <p:sp>
        <p:nvSpPr>
          <p:cNvPr id="9" name="Text 7"/>
          <p:cNvSpPr txBox="1"/>
          <p:nvPr/>
        </p:nvSpPr>
        <p:spPr>
          <a:xfrm>
            <a:off x="841248" y="3657600"/>
            <a:ext cx="2907792" cy="786384"/>
          </a:xfrm>
          <a:prstGeom prst="rect">
            <a:avLst/>
          </a:prstGeom>
          <a:noFill/>
          <a:ln/>
        </p:spPr>
        <p:txBody>
          <a:bodyPr wrap="square" lIns="0" tIns="0" rIns="0" bIns="0" rtlCol="0" anchor="ctr"/>
          <a:lstStyle/>
          <a:p>
            <a:pPr indent="0" marL="0">
              <a:lnSpc>
                <a:spcPts val="1700"/>
              </a:lnSpc>
              <a:buNone/>
            </a:pPr>
            <a:r>
              <a:rPr lang="en-US" sz="1250" dirty="0">
                <a:solidFill>
                  <a:srgbClr val="5A6660"/>
                </a:solidFill>
              </a:rPr>
              <a:t>Certified trades who each hold a share. Members, not contractors rated by a stranger. One member, one vote.</a:t>
            </a:r>
            <a:endParaRPr lang="en-US" sz="1250" dirty="0"/>
          </a:p>
        </p:txBody>
      </p:sp>
      <p:sp>
        <p:nvSpPr>
          <p:cNvPr id="10" name="card"/>
          <p:cNvSpPr/>
          <p:nvPr/>
        </p:nvSpPr>
        <p:spPr>
          <a:xfrm>
            <a:off x="4352544" y="2267712"/>
            <a:ext cx="3456432" cy="2286000"/>
          </a:xfrm>
          <a:prstGeom prst="roundRect">
            <a:avLst>
              <a:gd name="adj" fmla="val 4000"/>
            </a:avLst>
          </a:prstGeom>
          <a:solidFill>
            <a:srgbClr val="FFFFFF"/>
          </a:solidFill>
          <a:ln w="12700">
            <a:solidFill>
              <a:srgbClr val="DCE2DD"/>
            </a:solidFill>
            <a:prstDash val="solid"/>
          </a:ln>
        </p:spPr>
      </p:sp>
      <p:sp>
        <p:nvSpPr>
          <p:cNvPr id="11" name="badge"/>
          <p:cNvSpPr/>
          <p:nvPr/>
        </p:nvSpPr>
        <p:spPr>
          <a:xfrm>
            <a:off x="4626864" y="2523744"/>
            <a:ext cx="457200" cy="457200"/>
          </a:xfrm>
          <a:prstGeom prst="ellipse">
            <a:avLst/>
          </a:prstGeom>
          <a:solidFill>
            <a:srgbClr val="183C31"/>
          </a:solidFill>
          <a:ln w="12700">
            <a:solidFill>
              <a:srgbClr val="183C31"/>
            </a:solidFill>
            <a:prstDash val="solid"/>
          </a:ln>
        </p:spPr>
      </p:sp>
      <p:sp>
        <p:nvSpPr>
          <p:cNvPr id="12" name="Text 10"/>
          <p:cNvSpPr txBox="1"/>
          <p:nvPr/>
        </p:nvSpPr>
        <p:spPr>
          <a:xfrm>
            <a:off x="4626864" y="2523744"/>
            <a:ext cx="457200" cy="457200"/>
          </a:xfrm>
          <a:prstGeom prst="rect">
            <a:avLst/>
          </a:prstGeom>
          <a:noFill/>
          <a:ln/>
        </p:spPr>
        <p:txBody>
          <a:bodyPr wrap="square" lIns="0" tIns="0" rIns="0" bIns="0" rtlCol="0" anchor="ctr"/>
          <a:lstStyle/>
          <a:p>
            <a:pPr algn="ctr" indent="0" marL="0">
              <a:buNone/>
            </a:pPr>
            <a:r>
              <a:rPr lang="en-US" sz="1400" b="1" dirty="0">
                <a:solidFill>
                  <a:srgbClr val="D6ED8D"/>
                </a:solidFill>
              </a:rPr>
              <a:t>2</a:t>
            </a:r>
            <a:endParaRPr lang="en-US" sz="1400" dirty="0"/>
          </a:p>
        </p:txBody>
      </p:sp>
      <p:sp>
        <p:nvSpPr>
          <p:cNvPr id="13" name="Text 11"/>
          <p:cNvSpPr txBox="1"/>
          <p:nvPr/>
        </p:nvSpPr>
        <p:spPr>
          <a:xfrm>
            <a:off x="4626864" y="3108960"/>
            <a:ext cx="2907792" cy="512064"/>
          </a:xfrm>
          <a:prstGeom prst="rect">
            <a:avLst/>
          </a:prstGeom>
          <a:noFill/>
          <a:ln/>
        </p:spPr>
        <p:txBody>
          <a:bodyPr wrap="square" lIns="0" tIns="0" rIns="0" bIns="0" rtlCol="0" anchor="ctr"/>
          <a:lstStyle/>
          <a:p>
            <a:pPr indent="0" marL="0">
              <a:buNone/>
            </a:pPr>
            <a:r>
              <a:rPr lang="en-US" sz="1600" b="1" dirty="0">
                <a:solidFill>
                  <a:srgbClr val="173D31"/>
                </a:solidFill>
              </a:rPr>
              <a:t>The households they serve</a:t>
            </a:r>
            <a:endParaRPr lang="en-US" sz="1600" dirty="0"/>
          </a:p>
        </p:txBody>
      </p:sp>
      <p:sp>
        <p:nvSpPr>
          <p:cNvPr id="14" name="Text 12"/>
          <p:cNvSpPr txBox="1"/>
          <p:nvPr/>
        </p:nvSpPr>
        <p:spPr>
          <a:xfrm>
            <a:off x="4626864" y="3657600"/>
            <a:ext cx="2907792" cy="786384"/>
          </a:xfrm>
          <a:prstGeom prst="rect">
            <a:avLst/>
          </a:prstGeom>
          <a:noFill/>
          <a:ln/>
        </p:spPr>
        <p:txBody>
          <a:bodyPr wrap="square" lIns="0" tIns="0" rIns="0" bIns="0" rtlCol="0" anchor="ctr"/>
          <a:lstStyle/>
          <a:p>
            <a:pPr indent="0" marL="0">
              <a:lnSpc>
                <a:spcPts val="1700"/>
              </a:lnSpc>
              <a:buNone/>
            </a:pPr>
            <a:r>
              <a:rPr lang="en-US" sz="1250" dirty="0">
                <a:solidFill>
                  <a:srgbClr val="5A6660"/>
                </a:solidFill>
              </a:rPr>
              <a:t>The same familiar booking app. Ramesh's customer never has to care how the rulebook works.</a:t>
            </a:r>
            <a:endParaRPr lang="en-US" sz="1250" dirty="0"/>
          </a:p>
        </p:txBody>
      </p:sp>
      <p:sp>
        <p:nvSpPr>
          <p:cNvPr id="15" name="card"/>
          <p:cNvSpPr/>
          <p:nvPr/>
        </p:nvSpPr>
        <p:spPr>
          <a:xfrm>
            <a:off x="8138160" y="2267712"/>
            <a:ext cx="3456432" cy="2286000"/>
          </a:xfrm>
          <a:prstGeom prst="roundRect">
            <a:avLst>
              <a:gd name="adj" fmla="val 4000"/>
            </a:avLst>
          </a:prstGeom>
          <a:solidFill>
            <a:srgbClr val="FFFFFF"/>
          </a:solidFill>
          <a:ln w="12700">
            <a:solidFill>
              <a:srgbClr val="DCE2DD"/>
            </a:solidFill>
            <a:prstDash val="solid"/>
          </a:ln>
        </p:spPr>
      </p:sp>
      <p:sp>
        <p:nvSpPr>
          <p:cNvPr id="16" name="badge"/>
          <p:cNvSpPr/>
          <p:nvPr/>
        </p:nvSpPr>
        <p:spPr>
          <a:xfrm>
            <a:off x="8412480" y="2523744"/>
            <a:ext cx="457200" cy="457200"/>
          </a:xfrm>
          <a:prstGeom prst="ellipse">
            <a:avLst/>
          </a:prstGeom>
          <a:solidFill>
            <a:srgbClr val="183C31"/>
          </a:solidFill>
          <a:ln w="12700">
            <a:solidFill>
              <a:srgbClr val="183C31"/>
            </a:solidFill>
            <a:prstDash val="solid"/>
          </a:ln>
        </p:spPr>
      </p:sp>
      <p:sp>
        <p:nvSpPr>
          <p:cNvPr id="17" name="Text 15"/>
          <p:cNvSpPr txBox="1"/>
          <p:nvPr/>
        </p:nvSpPr>
        <p:spPr>
          <a:xfrm>
            <a:off x="8412480" y="2523744"/>
            <a:ext cx="457200" cy="457200"/>
          </a:xfrm>
          <a:prstGeom prst="rect">
            <a:avLst/>
          </a:prstGeom>
          <a:noFill/>
          <a:ln/>
        </p:spPr>
        <p:txBody>
          <a:bodyPr wrap="square" lIns="0" tIns="0" rIns="0" bIns="0" rtlCol="0" anchor="ctr"/>
          <a:lstStyle/>
          <a:p>
            <a:pPr algn="ctr" indent="0" marL="0">
              <a:buNone/>
            </a:pPr>
            <a:r>
              <a:rPr lang="en-US" sz="1400" b="1" dirty="0">
                <a:solidFill>
                  <a:srgbClr val="D6ED8D"/>
                </a:solidFill>
              </a:rPr>
              <a:t>3</a:t>
            </a:r>
            <a:endParaRPr lang="en-US" sz="1400" dirty="0"/>
          </a:p>
        </p:txBody>
      </p:sp>
      <p:sp>
        <p:nvSpPr>
          <p:cNvPr id="18" name="Text 16"/>
          <p:cNvSpPr txBox="1"/>
          <p:nvPr/>
        </p:nvSpPr>
        <p:spPr>
          <a:xfrm>
            <a:off x="8412480" y="3108960"/>
            <a:ext cx="2907792" cy="512064"/>
          </a:xfrm>
          <a:prstGeom prst="rect">
            <a:avLst/>
          </a:prstGeom>
          <a:noFill/>
          <a:ln/>
        </p:spPr>
        <p:txBody>
          <a:bodyPr wrap="square" lIns="0" tIns="0" rIns="0" bIns="0" rtlCol="0" anchor="ctr"/>
          <a:lstStyle/>
          <a:p>
            <a:pPr indent="0" marL="0">
              <a:buNone/>
            </a:pPr>
            <a:r>
              <a:rPr lang="en-US" sz="1600" b="1" dirty="0">
                <a:solidFill>
                  <a:srgbClr val="173D31"/>
                </a:solidFill>
              </a:rPr>
              <a:t>The sabha</a:t>
            </a:r>
            <a:endParaRPr lang="en-US" sz="1600" dirty="0"/>
          </a:p>
        </p:txBody>
      </p:sp>
      <p:sp>
        <p:nvSpPr>
          <p:cNvPr id="19" name="Text 17"/>
          <p:cNvSpPr txBox="1"/>
          <p:nvPr/>
        </p:nvSpPr>
        <p:spPr>
          <a:xfrm>
            <a:off x="8412480" y="3657600"/>
            <a:ext cx="2907792" cy="786384"/>
          </a:xfrm>
          <a:prstGeom prst="rect">
            <a:avLst/>
          </a:prstGeom>
          <a:noFill/>
          <a:ln/>
        </p:spPr>
        <p:txBody>
          <a:bodyPr wrap="square" lIns="0" tIns="0" rIns="0" bIns="0" rtlCol="0" anchor="ctr"/>
          <a:lstStyle/>
          <a:p>
            <a:pPr indent="0" marL="0">
              <a:lnSpc>
                <a:spcPts val="1700"/>
              </a:lnSpc>
              <a:buNone/>
            </a:pPr>
            <a:r>
              <a:rPr lang="en-US" sz="1250" dirty="0">
                <a:solidFill>
                  <a:srgbClr val="5A6660"/>
                </a:solidFill>
              </a:rPr>
              <a:t>The assembly where the rules are argued and voted. Quorum, approval, then activation.</a:t>
            </a:r>
            <a:endParaRPr lang="en-US" sz="1250" dirty="0"/>
          </a:p>
        </p:txBody>
      </p:sp>
      <p:sp>
        <p:nvSpPr>
          <p:cNvPr id="20" name="card"/>
          <p:cNvSpPr/>
          <p:nvPr/>
        </p:nvSpPr>
        <p:spPr>
          <a:xfrm>
            <a:off x="566928" y="4736592"/>
            <a:ext cx="11027664" cy="566928"/>
          </a:xfrm>
          <a:prstGeom prst="roundRect">
            <a:avLst>
              <a:gd name="adj" fmla="val 16129"/>
            </a:avLst>
          </a:prstGeom>
          <a:solidFill>
            <a:srgbClr val="183C31"/>
          </a:solidFill>
          <a:ln w="12700">
            <a:solidFill>
              <a:srgbClr val="183C31"/>
            </a:solidFill>
            <a:prstDash val="solid"/>
          </a:ln>
        </p:spPr>
      </p:sp>
      <p:sp>
        <p:nvSpPr>
          <p:cNvPr id="21" name="Text 19"/>
          <p:cNvSpPr txBox="1"/>
          <p:nvPr/>
        </p:nvSpPr>
        <p:spPr>
          <a:xfrm>
            <a:off x="841248" y="4736592"/>
            <a:ext cx="10479024" cy="566928"/>
          </a:xfrm>
          <a:prstGeom prst="rect">
            <a:avLst/>
          </a:prstGeom>
          <a:noFill/>
          <a:ln/>
        </p:spPr>
        <p:txBody>
          <a:bodyPr wrap="square" lIns="0" tIns="0" rIns="0" bIns="0" rtlCol="0" anchor="ctr"/>
          <a:lstStyle/>
          <a:p>
            <a:pPr indent="0" marL="0">
              <a:buNone/>
            </a:pPr>
            <a:r>
              <a:rPr lang="en-US" sz="1400" b="1" dirty="0">
                <a:solidFill>
                  <a:srgbClr val="D6ED8D"/>
                </a:solidFill>
              </a:rPr>
              <a:t>Kaam</a:t>
            </a:r>
            <a:pPr indent="0" marL="0">
              <a:buNone/>
            </a:pPr>
            <a:r>
              <a:rPr lang="en-US" sz="1400" dirty="0">
                <a:solidFill>
                  <a:srgbClr val="C8D6CF"/>
                </a:solidFill>
              </a:rPr>
              <a:t> = work.   </a:t>
            </a:r>
            <a:pPr indent="0" marL="0">
              <a:buNone/>
            </a:pPr>
            <a:r>
              <a:rPr lang="en-US" sz="1400" b="1" dirty="0">
                <a:solidFill>
                  <a:srgbClr val="D6ED8D"/>
                </a:solidFill>
              </a:rPr>
              <a:t>Sabha</a:t>
            </a:r>
            <a:pPr indent="0" marL="0">
              <a:buNone/>
            </a:pPr>
            <a:r>
              <a:rPr lang="en-US" sz="1400" dirty="0">
                <a:solidFill>
                  <a:srgbClr val="C8D6CF"/>
                </a:solidFill>
              </a:rPr>
              <a:t> = assembly.   The community is not an audience for the app — it is the thing that writes the app's rules.</a:t>
            </a:r>
            <a:endParaRPr lang="en-US" sz="1400" dirty="0"/>
          </a:p>
        </p:txBody>
      </p:sp>
      <p:sp>
        <p:nvSpPr>
          <p:cNvPr id="22"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23" name="Text 21"/>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WEEK 1  ·  RAMESH BUYS A SHARE AND GETS A VOTE</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Week 1 — a job goes to someone else</a:t>
            </a:r>
            <a:endParaRPr lang="en-US" sz="3400" dirty="0"/>
          </a:p>
        </p:txBody>
      </p:sp>
      <p:sp>
        <p:nvSpPr>
          <p:cNvPr id="3" name="card"/>
          <p:cNvSpPr/>
          <p:nvPr/>
        </p:nvSpPr>
        <p:spPr>
          <a:xfrm>
            <a:off x="566928" y="1371600"/>
            <a:ext cx="5257800" cy="3246120"/>
          </a:xfrm>
          <a:prstGeom prst="roundRect">
            <a:avLst>
              <a:gd name="adj" fmla="val 2817"/>
            </a:avLst>
          </a:prstGeom>
          <a:solidFill>
            <a:srgbClr val="FBF0EE"/>
          </a:solidFill>
          <a:ln w="12700">
            <a:solidFill>
              <a:srgbClr val="E6CCC7"/>
            </a:solidFill>
            <a:prstDash val="solid"/>
          </a:ln>
        </p:spPr>
      </p:sp>
      <p:sp>
        <p:nvSpPr>
          <p:cNvPr id="4" name="eyebrow"/>
          <p:cNvSpPr txBox="1"/>
          <p:nvPr/>
        </p:nvSpPr>
        <p:spPr>
          <a:xfrm>
            <a:off x="841248" y="1627632"/>
            <a:ext cx="4663440" cy="237744"/>
          </a:xfrm>
          <a:prstGeom prst="rect">
            <a:avLst/>
          </a:prstGeom>
          <a:noFill/>
          <a:ln/>
        </p:spPr>
        <p:txBody>
          <a:bodyPr wrap="square" lIns="0" tIns="0" rIns="0" bIns="0" rtlCol="0" anchor="ctr"/>
          <a:lstStyle/>
          <a:p>
            <a:pPr indent="0" marL="0">
              <a:buNone/>
            </a:pPr>
            <a:r>
              <a:rPr lang="en-US" sz="1100" b="1" spc="200" kern="0" dirty="0">
                <a:solidFill>
                  <a:srgbClr val="9C382F"/>
                </a:solidFill>
              </a:rPr>
              <a:t>WHAT HE IS USED TO</a:t>
            </a:r>
            <a:endParaRPr lang="en-US" sz="1100" dirty="0"/>
          </a:p>
        </p:txBody>
      </p:sp>
      <p:sp>
        <p:nvSpPr>
          <p:cNvPr id="5" name="Text 3"/>
          <p:cNvSpPr txBox="1"/>
          <p:nvPr/>
        </p:nvSpPr>
        <p:spPr>
          <a:xfrm>
            <a:off x="841248" y="1920240"/>
            <a:ext cx="4709160" cy="566928"/>
          </a:xfrm>
          <a:prstGeom prst="rect">
            <a:avLst/>
          </a:prstGeom>
          <a:noFill/>
          <a:ln/>
        </p:spPr>
        <p:txBody>
          <a:bodyPr wrap="square" lIns="0" tIns="0" rIns="0" bIns="0" rtlCol="0" anchor="ctr"/>
          <a:lstStyle/>
          <a:p>
            <a:pPr indent="0" marL="0">
              <a:buNone/>
            </a:pPr>
            <a:r>
              <a:rPr lang="en-US" sz="3200" b="1" dirty="0">
                <a:solidFill>
                  <a:srgbClr val="7D332A"/>
                </a:solidFill>
              </a:rPr>
              <a:t>Silence.</a:t>
            </a:r>
            <a:endParaRPr lang="en-US" sz="3200" dirty="0"/>
          </a:p>
        </p:txBody>
      </p:sp>
      <p:sp>
        <p:nvSpPr>
          <p:cNvPr id="6" name="Text 4"/>
          <p:cNvSpPr txBox="1"/>
          <p:nvPr/>
        </p:nvSpPr>
        <p:spPr>
          <a:xfrm>
            <a:off x="841248" y="2578608"/>
            <a:ext cx="4709160" cy="1188720"/>
          </a:xfrm>
          <a:prstGeom prst="rect">
            <a:avLst/>
          </a:prstGeom>
          <a:noFill/>
          <a:ln/>
        </p:spPr>
        <p:txBody>
          <a:bodyPr wrap="square" lIns="0" tIns="0" rIns="0" bIns="0" rtlCol="0" anchor="ctr"/>
          <a:lstStyle/>
          <a:p>
            <a:pPr indent="0" marL="0">
              <a:lnSpc>
                <a:spcPts val="1900"/>
              </a:lnSpc>
              <a:buNone/>
            </a:pPr>
            <a:r>
              <a:rPr lang="en-US" sz="1350" dirty="0">
                <a:solidFill>
                  <a:srgbClr val="6B4A45"/>
                </a:solidFill>
              </a:rPr>
              <a:t>The job appears, then it is gone. No reason is offered, and there is nobody to ask. If he complains, the only lever he has is to work cheaper or longer.</a:t>
            </a:r>
            <a:endParaRPr lang="en-US" sz="1350" dirty="0"/>
          </a:p>
        </p:txBody>
      </p:sp>
      <p:sp>
        <p:nvSpPr>
          <p:cNvPr id="7" name="card"/>
          <p:cNvSpPr/>
          <p:nvPr/>
        </p:nvSpPr>
        <p:spPr>
          <a:xfrm>
            <a:off x="6153912" y="1371600"/>
            <a:ext cx="5440680" cy="3246120"/>
          </a:xfrm>
          <a:prstGeom prst="roundRect">
            <a:avLst>
              <a:gd name="adj" fmla="val 2817"/>
            </a:avLst>
          </a:prstGeom>
          <a:solidFill>
            <a:srgbClr val="FFFFFF"/>
          </a:solidFill>
          <a:ln w="12700">
            <a:solidFill>
              <a:srgbClr val="BCD7C8"/>
            </a:solidFill>
            <a:prstDash val="solid"/>
          </a:ln>
        </p:spPr>
      </p:sp>
      <p:sp>
        <p:nvSpPr>
          <p:cNvPr id="8" name="eyebrow"/>
          <p:cNvSpPr txBox="1"/>
          <p:nvPr/>
        </p:nvSpPr>
        <p:spPr>
          <a:xfrm>
            <a:off x="6428232" y="1627632"/>
            <a:ext cx="4846320" cy="237744"/>
          </a:xfrm>
          <a:prstGeom prst="rect">
            <a:avLst/>
          </a:prstGeom>
          <a:noFill/>
          <a:ln/>
        </p:spPr>
        <p:txBody>
          <a:bodyPr wrap="square" lIns="0" tIns="0" rIns="0" bIns="0" rtlCol="0" anchor="ctr"/>
          <a:lstStyle/>
          <a:p>
            <a:pPr indent="0" marL="0">
              <a:buNone/>
            </a:pPr>
            <a:r>
              <a:rPr lang="en-US" sz="1100" b="1" spc="200" kern="0" dirty="0">
                <a:solidFill>
                  <a:srgbClr val="176B52"/>
                </a:solidFill>
              </a:rPr>
              <a:t>WHAT KAAMSABHA SHOWS HIM</a:t>
            </a:r>
            <a:endParaRPr lang="en-US" sz="1100" dirty="0"/>
          </a:p>
        </p:txBody>
      </p:sp>
      <p:sp>
        <p:nvSpPr>
          <p:cNvPr id="9" name="Text 7"/>
          <p:cNvSpPr txBox="1"/>
          <p:nvPr/>
        </p:nvSpPr>
        <p:spPr>
          <a:xfrm>
            <a:off x="6428232" y="1938528"/>
            <a:ext cx="4892040" cy="1234440"/>
          </a:xfrm>
          <a:prstGeom prst="rect">
            <a:avLst/>
          </a:prstGeom>
          <a:noFill/>
          <a:ln/>
        </p:spPr>
        <p:txBody>
          <a:bodyPr wrap="square" lIns="0" tIns="0" rIns="0" bIns="0" rtlCol="0" anchor="ctr"/>
          <a:lstStyle/>
          <a:p>
            <a:pPr indent="0" marL="0">
              <a:lnSpc>
                <a:spcPts val="2400"/>
              </a:lnSpc>
              <a:buNone/>
            </a:pPr>
            <a:r>
              <a:rPr lang="en-US" sz="1700" b="1" dirty="0">
                <a:solidFill>
                  <a:srgbClr val="173D31"/>
                </a:solidFill>
              </a:rPr>
              <a:t>“Leela went ahead of you because she had 150 min booked that day against your 300 min — 150 min less.”</a:t>
            </a:r>
            <a:endParaRPr lang="en-US" sz="1700" dirty="0"/>
          </a:p>
        </p:txBody>
      </p:sp>
      <p:sp>
        <p:nvSpPr>
          <p:cNvPr id="10" name="Text 8"/>
          <p:cNvSpPr txBox="1"/>
          <p:nvPr/>
        </p:nvSpPr>
        <p:spPr>
          <a:xfrm>
            <a:off x="6428232" y="3200400"/>
            <a:ext cx="4892040" cy="685800"/>
          </a:xfrm>
          <a:prstGeom prst="rect">
            <a:avLst/>
          </a:prstGeom>
          <a:noFill/>
          <a:ln/>
        </p:spPr>
        <p:txBody>
          <a:bodyPr wrap="square" lIns="0" tIns="0" rIns="0" bIns="0" rtlCol="0" anchor="ctr"/>
          <a:lstStyle/>
          <a:p>
            <a:pPr indent="0" marL="0">
              <a:lnSpc>
                <a:spcPts val="1800"/>
              </a:lnSpc>
              <a:buNone/>
            </a:pPr>
            <a:r>
              <a:rPr lang="en-US" sz="1300" i="1" dirty="0">
                <a:solidFill>
                  <a:srgbClr val="3F5A4E"/>
                </a:solidFill>
              </a:rPr>
              <a:t>“Work is spread toward whoever has least, not toward whoever is cheapest or best rated.”</a:t>
            </a:r>
            <a:endParaRPr lang="en-US" sz="1300" dirty="0"/>
          </a:p>
        </p:txBody>
      </p:sp>
      <p:sp>
        <p:nvSpPr>
          <p:cNvPr id="11" name="Text 9"/>
          <p:cNvSpPr txBox="1"/>
          <p:nvPr/>
        </p:nvSpPr>
        <p:spPr>
          <a:xfrm>
            <a:off x="6428232" y="3931920"/>
            <a:ext cx="4892040" cy="548640"/>
          </a:xfrm>
          <a:prstGeom prst="rect">
            <a:avLst/>
          </a:prstGeom>
          <a:noFill/>
          <a:ln/>
        </p:spPr>
        <p:txBody>
          <a:bodyPr wrap="square" lIns="0" tIns="0" rIns="0" bIns="0" rtlCol="0" anchor="ctr"/>
          <a:lstStyle/>
          <a:p>
            <a:pPr indent="0" marL="0">
              <a:lnSpc>
                <a:spcPts val="1600"/>
              </a:lnSpc>
              <a:buNone/>
            </a:pPr>
            <a:r>
              <a:rPr lang="en-US" sz="1200" dirty="0">
                <a:solidFill>
                  <a:srgbClr val="6F7A74"/>
                </a:solidFill>
              </a:rPr>
              <a:t>Rebuilt from the figures frozen at the moment of the decision — so it cannot change later.</a:t>
            </a:r>
            <a:endParaRPr lang="en-US" sz="1200" dirty="0"/>
          </a:p>
        </p:txBody>
      </p:sp>
      <p:sp>
        <p:nvSpPr>
          <p:cNvPr id="12" name="card"/>
          <p:cNvSpPr/>
          <p:nvPr/>
        </p:nvSpPr>
        <p:spPr>
          <a:xfrm>
            <a:off x="566928" y="4754880"/>
            <a:ext cx="11027664" cy="548640"/>
          </a:xfrm>
          <a:prstGeom prst="roundRect">
            <a:avLst>
              <a:gd name="adj" fmla="val 16667"/>
            </a:avLst>
          </a:prstGeom>
          <a:solidFill>
            <a:srgbClr val="D6ED8D"/>
          </a:solidFill>
          <a:ln w="12700">
            <a:solidFill>
              <a:srgbClr val="D6ED8D"/>
            </a:solidFill>
            <a:prstDash val="solid"/>
          </a:ln>
        </p:spPr>
      </p:sp>
      <p:sp>
        <p:nvSpPr>
          <p:cNvPr id="13" name="Text 11"/>
          <p:cNvSpPr txBox="1"/>
          <p:nvPr/>
        </p:nvSpPr>
        <p:spPr>
          <a:xfrm>
            <a:off x="841248" y="4754880"/>
            <a:ext cx="10479024" cy="548640"/>
          </a:xfrm>
          <a:prstGeom prst="rect">
            <a:avLst/>
          </a:prstGeom>
          <a:noFill/>
          <a:ln/>
        </p:spPr>
        <p:txBody>
          <a:bodyPr wrap="square" lIns="0" tIns="0" rIns="0" bIns="0" rtlCol="0" anchor="ctr"/>
          <a:lstStyle/>
          <a:p>
            <a:pPr indent="0" marL="0">
              <a:buNone/>
            </a:pPr>
            <a:r>
              <a:rPr lang="en-US" sz="1350" b="1" dirty="0">
                <a:solidFill>
                  <a:srgbClr val="173D31"/>
                </a:solidFill>
              </a:rPr>
              <a:t>Missing out never lowers his rating and never reduces the offers he gets next. That sentence is on the screen, not in a help page.</a:t>
            </a:r>
            <a:endParaRPr lang="en-US" sz="1350" dirty="0"/>
          </a:p>
        </p:txBody>
      </p:sp>
      <p:sp>
        <p:nvSpPr>
          <p:cNvPr id="14"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15" name="Text 13"/>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WEEK 1  ·  DECISION RECEIPT  —  LIVE IN THE DEMO</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rgbClr val="FFFFFF"/>
                </a:solidFill>
              </a:rPr>
              <a:t>But a reason he cannot read is not a reason</a:t>
            </a:r>
            <a:endParaRPr lang="en-US" sz="3400" dirty="0"/>
          </a:p>
        </p:txBody>
      </p:sp>
      <p:sp>
        <p:nvSpPr>
          <p:cNvPr id="3" name="Text 1"/>
          <p:cNvSpPr txBox="1"/>
          <p:nvPr/>
        </p:nvSpPr>
        <p:spPr>
          <a:xfrm>
            <a:off x="566928" y="1325880"/>
            <a:ext cx="10424160" cy="548640"/>
          </a:xfrm>
          <a:prstGeom prst="rect">
            <a:avLst/>
          </a:prstGeom>
          <a:noFill/>
          <a:ln/>
        </p:spPr>
        <p:txBody>
          <a:bodyPr wrap="square" lIns="0" tIns="0" rIns="0" bIns="0" rtlCol="0" anchor="ctr"/>
          <a:lstStyle/>
          <a:p>
            <a:pPr indent="0" marL="0">
              <a:lnSpc>
                <a:spcPts val="2400"/>
              </a:lnSpc>
              <a:buNone/>
            </a:pPr>
            <a:r>
              <a:rPr lang="en-US" sz="1700" dirty="0">
                <a:solidFill>
                  <a:srgbClr val="C8D6CF"/>
                </a:solidFill>
              </a:rPr>
              <a:t>Ramesh reads Marathi comfortably. English on a form, slowly. A paragraph of English justice is still an injustice.</a:t>
            </a:r>
            <a:endParaRPr lang="en-US" sz="1700" dirty="0"/>
          </a:p>
        </p:txBody>
      </p:sp>
      <p:sp>
        <p:nvSpPr>
          <p:cNvPr id="4" name="card"/>
          <p:cNvSpPr/>
          <p:nvPr/>
        </p:nvSpPr>
        <p:spPr>
          <a:xfrm>
            <a:off x="566928" y="2103120"/>
            <a:ext cx="3456432" cy="2514600"/>
          </a:xfrm>
          <a:prstGeom prst="roundRect">
            <a:avLst>
              <a:gd name="adj" fmla="val 3636"/>
            </a:avLst>
          </a:prstGeom>
          <a:solidFill>
            <a:srgbClr val="1F4A3C"/>
          </a:solidFill>
          <a:ln w="12700">
            <a:solidFill>
              <a:srgbClr val="2E5C4C"/>
            </a:solidFill>
            <a:prstDash val="solid"/>
          </a:ln>
        </p:spPr>
      </p:sp>
      <p:sp>
        <p:nvSpPr>
          <p:cNvPr id="5" name="badge"/>
          <p:cNvSpPr/>
          <p:nvPr/>
        </p:nvSpPr>
        <p:spPr>
          <a:xfrm>
            <a:off x="841248" y="2359152"/>
            <a:ext cx="457200" cy="457200"/>
          </a:xfrm>
          <a:prstGeom prst="ellipse">
            <a:avLst/>
          </a:prstGeom>
          <a:solidFill>
            <a:srgbClr val="D6ED8D"/>
          </a:solidFill>
          <a:ln w="12700">
            <a:solidFill>
              <a:srgbClr val="D6ED8D"/>
            </a:solidFill>
            <a:prstDash val="solid"/>
          </a:ln>
        </p:spPr>
      </p:sp>
      <p:sp>
        <p:nvSpPr>
          <p:cNvPr id="6" name="Text 4"/>
          <p:cNvSpPr txBox="1"/>
          <p:nvPr/>
        </p:nvSpPr>
        <p:spPr>
          <a:xfrm>
            <a:off x="841248" y="2359152"/>
            <a:ext cx="457200" cy="457200"/>
          </a:xfrm>
          <a:prstGeom prst="rect">
            <a:avLst/>
          </a:prstGeom>
          <a:noFill/>
          <a:ln/>
        </p:spPr>
        <p:txBody>
          <a:bodyPr wrap="square" lIns="0" tIns="0" rIns="0" bIns="0" rtlCol="0" anchor="ctr"/>
          <a:lstStyle/>
          <a:p>
            <a:pPr algn="ctr" indent="0" marL="0">
              <a:buNone/>
            </a:pPr>
            <a:r>
              <a:rPr lang="en-US" sz="1400" b="1" dirty="0">
                <a:solidFill>
                  <a:srgbClr val="173D31"/>
                </a:solidFill>
              </a:rPr>
              <a:t>अ</a:t>
            </a:r>
            <a:endParaRPr lang="en-US" sz="1400" dirty="0"/>
          </a:p>
        </p:txBody>
      </p:sp>
      <p:sp>
        <p:nvSpPr>
          <p:cNvPr id="7" name="Text 5"/>
          <p:cNvSpPr txBox="1"/>
          <p:nvPr/>
        </p:nvSpPr>
        <p:spPr>
          <a:xfrm>
            <a:off x="841248" y="2926080"/>
            <a:ext cx="2907792" cy="457200"/>
          </a:xfrm>
          <a:prstGeom prst="rect">
            <a:avLst/>
          </a:prstGeom>
          <a:noFill/>
          <a:ln/>
        </p:spPr>
        <p:txBody>
          <a:bodyPr wrap="square" lIns="0" tIns="0" rIns="0" bIns="0" rtlCol="0" anchor="ctr"/>
          <a:lstStyle/>
          <a:p>
            <a:pPr indent="0" marL="0">
              <a:buNone/>
            </a:pPr>
            <a:r>
              <a:rPr lang="en-US" sz="1550" b="1" dirty="0">
                <a:solidFill>
                  <a:srgbClr val="FFFFFF"/>
                </a:solidFill>
              </a:rPr>
              <a:t>In his own language</a:t>
            </a:r>
            <a:endParaRPr lang="en-US" sz="1550" dirty="0"/>
          </a:p>
        </p:txBody>
      </p:sp>
      <p:sp>
        <p:nvSpPr>
          <p:cNvPr id="8" name="Text 6"/>
          <p:cNvSpPr txBox="1"/>
          <p:nvPr/>
        </p:nvSpPr>
        <p:spPr>
          <a:xfrm>
            <a:off x="841248" y="3438144"/>
            <a:ext cx="2907792" cy="1005840"/>
          </a:xfrm>
          <a:prstGeom prst="rect">
            <a:avLst/>
          </a:prstGeom>
          <a:noFill/>
          <a:ln/>
        </p:spPr>
        <p:txBody>
          <a:bodyPr wrap="square" lIns="0" tIns="0" rIns="0" bIns="0" rtlCol="0" anchor="ctr"/>
          <a:lstStyle/>
          <a:p>
            <a:pPr indent="0" marL="0">
              <a:lnSpc>
                <a:spcPts val="1650"/>
              </a:lnSpc>
              <a:buNone/>
            </a:pPr>
            <a:r>
              <a:rPr lang="en-US" sz="1200" dirty="0">
                <a:solidFill>
                  <a:srgbClr val="A9C0B6"/>
                </a:solidFill>
              </a:rPr>
              <a:t>Every member-facing screen in English, Hindi and Marathi — 357 messages each. Other members' names appear in his own script too.</a:t>
            </a:r>
            <a:endParaRPr lang="en-US" sz="1200" dirty="0"/>
          </a:p>
        </p:txBody>
      </p:sp>
      <p:sp>
        <p:nvSpPr>
          <p:cNvPr id="9" name="card"/>
          <p:cNvSpPr/>
          <p:nvPr/>
        </p:nvSpPr>
        <p:spPr>
          <a:xfrm>
            <a:off x="4352544" y="2103120"/>
            <a:ext cx="3456432" cy="2514600"/>
          </a:xfrm>
          <a:prstGeom prst="roundRect">
            <a:avLst>
              <a:gd name="adj" fmla="val 3636"/>
            </a:avLst>
          </a:prstGeom>
          <a:solidFill>
            <a:srgbClr val="1F4A3C"/>
          </a:solidFill>
          <a:ln w="12700">
            <a:solidFill>
              <a:srgbClr val="2E5C4C"/>
            </a:solidFill>
            <a:prstDash val="solid"/>
          </a:ln>
        </p:spPr>
      </p:sp>
      <p:sp>
        <p:nvSpPr>
          <p:cNvPr id="10" name="badge"/>
          <p:cNvSpPr/>
          <p:nvPr/>
        </p:nvSpPr>
        <p:spPr>
          <a:xfrm>
            <a:off x="4626864" y="2359152"/>
            <a:ext cx="457200" cy="457200"/>
          </a:xfrm>
          <a:prstGeom prst="ellipse">
            <a:avLst/>
          </a:prstGeom>
          <a:solidFill>
            <a:srgbClr val="D6ED8D"/>
          </a:solidFill>
          <a:ln w="12700">
            <a:solidFill>
              <a:srgbClr val="D6ED8D"/>
            </a:solidFill>
            <a:prstDash val="solid"/>
          </a:ln>
        </p:spPr>
      </p:sp>
      <p:sp>
        <p:nvSpPr>
          <p:cNvPr id="11" name="Text 9"/>
          <p:cNvSpPr txBox="1"/>
          <p:nvPr/>
        </p:nvSpPr>
        <p:spPr>
          <a:xfrm>
            <a:off x="4626864" y="2359152"/>
            <a:ext cx="457200" cy="457200"/>
          </a:xfrm>
          <a:prstGeom prst="rect">
            <a:avLst/>
          </a:prstGeom>
          <a:noFill/>
          <a:ln/>
        </p:spPr>
        <p:txBody>
          <a:bodyPr wrap="square" lIns="0" tIns="0" rIns="0" bIns="0" rtlCol="0" anchor="ctr"/>
          <a:lstStyle/>
          <a:p>
            <a:pPr algn="ctr" indent="0" marL="0">
              <a:buNone/>
            </a:pPr>
            <a:r>
              <a:rPr lang="en-US" sz="1400" b="1" dirty="0">
                <a:solidFill>
                  <a:srgbClr val="173D31"/>
                </a:solidFill>
              </a:rPr>
              <a:t>🔊</a:t>
            </a:r>
            <a:endParaRPr lang="en-US" sz="1400" dirty="0"/>
          </a:p>
        </p:txBody>
      </p:sp>
      <p:sp>
        <p:nvSpPr>
          <p:cNvPr id="12" name="Text 10"/>
          <p:cNvSpPr txBox="1"/>
          <p:nvPr/>
        </p:nvSpPr>
        <p:spPr>
          <a:xfrm>
            <a:off x="4626864" y="2926080"/>
            <a:ext cx="2907792" cy="457200"/>
          </a:xfrm>
          <a:prstGeom prst="rect">
            <a:avLst/>
          </a:prstGeom>
          <a:noFill/>
          <a:ln/>
        </p:spPr>
        <p:txBody>
          <a:bodyPr wrap="square" lIns="0" tIns="0" rIns="0" bIns="0" rtlCol="0" anchor="ctr"/>
          <a:lstStyle/>
          <a:p>
            <a:pPr indent="0" marL="0">
              <a:buNone/>
            </a:pPr>
            <a:r>
              <a:rPr lang="en-US" sz="1550" b="1" dirty="0">
                <a:solidFill>
                  <a:srgbClr val="FFFFFF"/>
                </a:solidFill>
              </a:rPr>
              <a:t>Read aloud, on the handset</a:t>
            </a:r>
            <a:endParaRPr lang="en-US" sz="1550" dirty="0"/>
          </a:p>
        </p:txBody>
      </p:sp>
      <p:sp>
        <p:nvSpPr>
          <p:cNvPr id="13" name="Text 11"/>
          <p:cNvSpPr txBox="1"/>
          <p:nvPr/>
        </p:nvSpPr>
        <p:spPr>
          <a:xfrm>
            <a:off x="4626864" y="3438144"/>
            <a:ext cx="2907792" cy="1005840"/>
          </a:xfrm>
          <a:prstGeom prst="rect">
            <a:avLst/>
          </a:prstGeom>
          <a:noFill/>
          <a:ln/>
        </p:spPr>
        <p:txBody>
          <a:bodyPr wrap="square" lIns="0" tIns="0" rIns="0" bIns="0" rtlCol="0" anchor="ctr"/>
          <a:lstStyle/>
          <a:p>
            <a:pPr indent="0" marL="0">
              <a:lnSpc>
                <a:spcPts val="1650"/>
              </a:lnSpc>
              <a:buNone/>
            </a:pPr>
            <a:r>
              <a:rPr lang="en-US" sz="1200" dirty="0">
                <a:solidFill>
                  <a:srgbClr val="A9C0B6"/>
                </a:solidFill>
              </a:rPr>
              <a:t>One tap and the decision is spoken. The phone's own voice: no account, no upload, no network.</a:t>
            </a:r>
            <a:endParaRPr lang="en-US" sz="1200" dirty="0"/>
          </a:p>
        </p:txBody>
      </p:sp>
      <p:sp>
        <p:nvSpPr>
          <p:cNvPr id="14" name="card"/>
          <p:cNvSpPr/>
          <p:nvPr/>
        </p:nvSpPr>
        <p:spPr>
          <a:xfrm>
            <a:off x="8138160" y="2103120"/>
            <a:ext cx="3456432" cy="2514600"/>
          </a:xfrm>
          <a:prstGeom prst="roundRect">
            <a:avLst>
              <a:gd name="adj" fmla="val 3636"/>
            </a:avLst>
          </a:prstGeom>
          <a:solidFill>
            <a:srgbClr val="1F4A3C"/>
          </a:solidFill>
          <a:ln w="12700">
            <a:solidFill>
              <a:srgbClr val="2E5C4C"/>
            </a:solidFill>
            <a:prstDash val="solid"/>
          </a:ln>
        </p:spPr>
      </p:sp>
      <p:sp>
        <p:nvSpPr>
          <p:cNvPr id="15" name="badge"/>
          <p:cNvSpPr/>
          <p:nvPr/>
        </p:nvSpPr>
        <p:spPr>
          <a:xfrm>
            <a:off x="8412480" y="2359152"/>
            <a:ext cx="457200" cy="457200"/>
          </a:xfrm>
          <a:prstGeom prst="ellipse">
            <a:avLst/>
          </a:prstGeom>
          <a:solidFill>
            <a:srgbClr val="D6ED8D"/>
          </a:solidFill>
          <a:ln w="12700">
            <a:solidFill>
              <a:srgbClr val="D6ED8D"/>
            </a:solidFill>
            <a:prstDash val="solid"/>
          </a:ln>
        </p:spPr>
      </p:sp>
      <p:sp>
        <p:nvSpPr>
          <p:cNvPr id="16" name="Text 14"/>
          <p:cNvSpPr txBox="1"/>
          <p:nvPr/>
        </p:nvSpPr>
        <p:spPr>
          <a:xfrm>
            <a:off x="8412480" y="2359152"/>
            <a:ext cx="457200" cy="457200"/>
          </a:xfrm>
          <a:prstGeom prst="rect">
            <a:avLst/>
          </a:prstGeom>
          <a:noFill/>
          <a:ln/>
        </p:spPr>
        <p:txBody>
          <a:bodyPr wrap="square" lIns="0" tIns="0" rIns="0" bIns="0" rtlCol="0" anchor="ctr"/>
          <a:lstStyle/>
          <a:p>
            <a:pPr algn="ctr" indent="0" marL="0">
              <a:buNone/>
            </a:pPr>
            <a:r>
              <a:rPr lang="en-US" sz="1400" b="1" dirty="0">
                <a:solidFill>
                  <a:srgbClr val="173D31"/>
                </a:solidFill>
              </a:rPr>
              <a:t>✓</a:t>
            </a:r>
            <a:endParaRPr lang="en-US" sz="1400" dirty="0"/>
          </a:p>
        </p:txBody>
      </p:sp>
      <p:sp>
        <p:nvSpPr>
          <p:cNvPr id="17" name="Text 15"/>
          <p:cNvSpPr txBox="1"/>
          <p:nvPr/>
        </p:nvSpPr>
        <p:spPr>
          <a:xfrm>
            <a:off x="8412480" y="2926080"/>
            <a:ext cx="2907792" cy="457200"/>
          </a:xfrm>
          <a:prstGeom prst="rect">
            <a:avLst/>
          </a:prstGeom>
          <a:noFill/>
          <a:ln/>
        </p:spPr>
        <p:txBody>
          <a:bodyPr wrap="square" lIns="0" tIns="0" rIns="0" bIns="0" rtlCol="0" anchor="ctr"/>
          <a:lstStyle/>
          <a:p>
            <a:pPr indent="0" marL="0">
              <a:buNone/>
            </a:pPr>
            <a:r>
              <a:rPr lang="en-US" sz="1550" b="1" dirty="0">
                <a:solidFill>
                  <a:srgbClr val="FFFFFF"/>
                </a:solidFill>
              </a:rPr>
              <a:t>Tested, not promised</a:t>
            </a:r>
            <a:endParaRPr lang="en-US" sz="1550" dirty="0"/>
          </a:p>
        </p:txBody>
      </p:sp>
      <p:sp>
        <p:nvSpPr>
          <p:cNvPr id="18" name="Text 16"/>
          <p:cNvSpPr txBox="1"/>
          <p:nvPr/>
        </p:nvSpPr>
        <p:spPr>
          <a:xfrm>
            <a:off x="8412480" y="3438144"/>
            <a:ext cx="2907792" cy="1005840"/>
          </a:xfrm>
          <a:prstGeom prst="rect">
            <a:avLst/>
          </a:prstGeom>
          <a:noFill/>
          <a:ln/>
        </p:spPr>
        <p:txBody>
          <a:bodyPr wrap="square" lIns="0" tIns="0" rIns="0" bIns="0" rtlCol="0" anchor="ctr"/>
          <a:lstStyle/>
          <a:p>
            <a:pPr indent="0" marL="0">
              <a:lnSpc>
                <a:spcPts val="1650"/>
              </a:lnSpc>
              <a:buNone/>
            </a:pPr>
            <a:r>
              <a:rPr lang="en-US" sz="1200" dirty="0">
                <a:solidFill>
                  <a:srgbClr val="A9C0B6"/>
                </a:solidFill>
              </a:rPr>
              <a:t>A test fails the build if any member-facing string is left in English, or if Hindi and Marathi are copies of each other.</a:t>
            </a:r>
            <a:endParaRPr lang="en-US" sz="1200" dirty="0"/>
          </a:p>
        </p:txBody>
      </p:sp>
      <p:sp>
        <p:nvSpPr>
          <p:cNvPr id="19" name="Text 17"/>
          <p:cNvSpPr txBox="1"/>
          <p:nvPr/>
        </p:nvSpPr>
        <p:spPr>
          <a:xfrm>
            <a:off x="566928" y="4846320"/>
            <a:ext cx="11027664" cy="457200"/>
          </a:xfrm>
          <a:prstGeom prst="rect">
            <a:avLst/>
          </a:prstGeom>
          <a:noFill/>
          <a:ln/>
        </p:spPr>
        <p:txBody>
          <a:bodyPr wrap="square" lIns="0" tIns="0" rIns="0" bIns="0" rtlCol="0" anchor="ctr"/>
          <a:lstStyle/>
          <a:p>
            <a:pPr indent="0" marL="0">
              <a:buNone/>
            </a:pPr>
            <a:r>
              <a:rPr lang="en-US" sz="1500" i="1" dirty="0">
                <a:solidFill>
                  <a:srgbClr val="D6ED8D"/>
                </a:solidFill>
              </a:rPr>
              <a:t>This is the first place the phone stops being a screen and starts being an advocate.</a:t>
            </a:r>
            <a:endParaRPr lang="en-US" sz="1500" dirty="0"/>
          </a:p>
        </p:txBody>
      </p:sp>
      <p:sp>
        <p:nvSpPr>
          <p:cNvPr id="20" name="card"/>
          <p:cNvSpPr/>
          <p:nvPr/>
        </p:nvSpPr>
        <p:spPr>
          <a:xfrm>
            <a:off x="566928" y="6016752"/>
            <a:ext cx="11027664" cy="457200"/>
          </a:xfrm>
          <a:prstGeom prst="roundRect">
            <a:avLst>
              <a:gd name="adj" fmla="val 20000"/>
            </a:avLst>
          </a:prstGeom>
          <a:solidFill>
            <a:srgbClr val="1F4A3C"/>
          </a:solidFill>
          <a:ln w="12700">
            <a:solidFill>
              <a:srgbClr val="2E5C4C"/>
            </a:solidFill>
            <a:prstDash val="solid"/>
          </a:ln>
        </p:spPr>
      </p:sp>
      <p:sp>
        <p:nvSpPr>
          <p:cNvPr id="21" name="Text 19"/>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8FA89C"/>
                </a:solidFill>
              </a:rPr>
              <a:t>WEEK 1  ·  ON-DEVICE READ-ALOUD  —  LIVE IN THE DEMO</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E8179"/>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Week 2 — something is wrong, and typing is the barrier</a:t>
            </a:r>
            <a:endParaRPr lang="en-US" sz="3400" dirty="0"/>
          </a:p>
        </p:txBody>
      </p:sp>
      <p:sp>
        <p:nvSpPr>
          <p:cNvPr id="3" name="card"/>
          <p:cNvSpPr/>
          <p:nvPr/>
        </p:nvSpPr>
        <p:spPr>
          <a:xfrm>
            <a:off x="566928" y="1371600"/>
            <a:ext cx="5257800" cy="3429000"/>
          </a:xfrm>
          <a:prstGeom prst="roundRect">
            <a:avLst>
              <a:gd name="adj" fmla="val 2667"/>
            </a:avLst>
          </a:prstGeom>
          <a:solidFill>
            <a:srgbClr val="F7FAF8"/>
          </a:solidFill>
          <a:ln w="12700">
            <a:solidFill>
              <a:srgbClr val="CFE0D4"/>
            </a:solidFill>
            <a:prstDash val="solid"/>
          </a:ln>
        </p:spPr>
      </p:sp>
      <p:sp>
        <p:nvSpPr>
          <p:cNvPr id="4" name="eyebrow"/>
          <p:cNvSpPr txBox="1"/>
          <p:nvPr/>
        </p:nvSpPr>
        <p:spPr>
          <a:xfrm>
            <a:off x="841248" y="1627632"/>
            <a:ext cx="4663440" cy="237744"/>
          </a:xfrm>
          <a:prstGeom prst="rect">
            <a:avLst/>
          </a:prstGeom>
          <a:noFill/>
          <a:ln/>
        </p:spPr>
        <p:txBody>
          <a:bodyPr wrap="square" lIns="0" tIns="0" rIns="0" bIns="0" rtlCol="0" anchor="ctr"/>
          <a:lstStyle/>
          <a:p>
            <a:pPr indent="0" marL="0">
              <a:buNone/>
            </a:pPr>
            <a:r>
              <a:rPr lang="en-US" sz="1100" b="1" spc="200" kern="0" dirty="0">
                <a:solidFill>
                  <a:srgbClr val="176B52"/>
                </a:solidFill>
              </a:rPr>
              <a:t>HE SPEAKS. THE HANDSET WRITES.</a:t>
            </a:r>
            <a:endParaRPr lang="en-US" sz="1100" dirty="0"/>
          </a:p>
        </p:txBody>
      </p:sp>
      <p:sp>
        <p:nvSpPr>
          <p:cNvPr id="5" name="Text 3"/>
          <p:cNvSpPr txBox="1"/>
          <p:nvPr/>
        </p:nvSpPr>
        <p:spPr>
          <a:xfrm>
            <a:off x="841248" y="1938528"/>
            <a:ext cx="4709160" cy="914400"/>
          </a:xfrm>
          <a:prstGeom prst="rect">
            <a:avLst/>
          </a:prstGeom>
          <a:noFill/>
          <a:ln/>
        </p:spPr>
        <p:txBody>
          <a:bodyPr wrap="square" lIns="0" tIns="0" rIns="0" bIns="0" rtlCol="0" anchor="ctr"/>
          <a:lstStyle/>
          <a:p>
            <a:pPr indent="0" marL="0">
              <a:lnSpc>
                <a:spcPts val="2400"/>
              </a:lnSpc>
              <a:buNone/>
            </a:pPr>
            <a:r>
              <a:rPr lang="en-US" sz="1700" i="1" dirty="0">
                <a:solidFill>
                  <a:srgbClr val="173D31"/>
                </a:solidFill>
              </a:rPr>
              <a:t>“The switch near the kitchen sparks when I turn it on and the light flickers”</a:t>
            </a:r>
            <a:endParaRPr lang="en-US" sz="1700" dirty="0"/>
          </a:p>
        </p:txBody>
      </p:sp>
      <p:sp>
        <p:nvSpPr>
          <p:cNvPr id="6" name="Text 4"/>
          <p:cNvSpPr txBox="1"/>
          <p:nvPr/>
        </p:nvSpPr>
        <p:spPr>
          <a:xfrm>
            <a:off x="841248" y="2944368"/>
            <a:ext cx="1783080" cy="402336"/>
          </a:xfrm>
          <a:prstGeom prst="rect">
            <a:avLst/>
          </a:prstGeom>
          <a:noFill/>
          <a:ln/>
        </p:spPr>
        <p:txBody>
          <a:bodyPr wrap="square" lIns="0" tIns="0" rIns="0" bIns="0" rtlCol="0" anchor="ctr"/>
          <a:lstStyle/>
          <a:p>
            <a:pPr indent="0" marL="0">
              <a:buNone/>
            </a:pPr>
            <a:r>
              <a:rPr lang="en-US" sz="1250" b="1" dirty="0">
                <a:solidFill>
                  <a:srgbClr val="176B52"/>
                </a:solidFill>
              </a:rPr>
              <a:t>Marked urgent</a:t>
            </a:r>
            <a:endParaRPr lang="en-US" sz="1250" dirty="0"/>
          </a:p>
        </p:txBody>
      </p:sp>
      <p:sp>
        <p:nvSpPr>
          <p:cNvPr id="7" name="Text 5"/>
          <p:cNvSpPr txBox="1"/>
          <p:nvPr/>
        </p:nvSpPr>
        <p:spPr>
          <a:xfrm>
            <a:off x="2670048" y="2944368"/>
            <a:ext cx="2880360" cy="402336"/>
          </a:xfrm>
          <a:prstGeom prst="rect">
            <a:avLst/>
          </a:prstGeom>
          <a:noFill/>
          <a:ln/>
        </p:spPr>
        <p:txBody>
          <a:bodyPr wrap="square" lIns="0" tIns="0" rIns="0" bIns="0" rtlCol="0" anchor="ctr"/>
          <a:lstStyle/>
          <a:p>
            <a:pPr indent="0" marL="0">
              <a:buNone/>
            </a:pPr>
            <a:r>
              <a:rPr lang="en-US" sz="1250" dirty="0">
                <a:solidFill>
                  <a:srgbClr val="5A6660"/>
                </a:solidFill>
              </a:rPr>
              <a:t>a spark is not a routine call</a:t>
            </a:r>
            <a:endParaRPr lang="en-US" sz="1250" dirty="0"/>
          </a:p>
        </p:txBody>
      </p:sp>
      <p:sp>
        <p:nvSpPr>
          <p:cNvPr id="8" name="Text 6"/>
          <p:cNvSpPr txBox="1"/>
          <p:nvPr/>
        </p:nvSpPr>
        <p:spPr>
          <a:xfrm>
            <a:off x="841248" y="3456432"/>
            <a:ext cx="1783080" cy="402336"/>
          </a:xfrm>
          <a:prstGeom prst="rect">
            <a:avLst/>
          </a:prstGeom>
          <a:noFill/>
          <a:ln/>
        </p:spPr>
        <p:txBody>
          <a:bodyPr wrap="square" lIns="0" tIns="0" rIns="0" bIns="0" rtlCol="0" anchor="ctr"/>
          <a:lstStyle/>
          <a:p>
            <a:pPr indent="0" marL="0">
              <a:buNone/>
            </a:pPr>
            <a:r>
              <a:rPr lang="en-US" sz="1250" b="1" dirty="0">
                <a:solidFill>
                  <a:srgbClr val="176B52"/>
                </a:solidFill>
              </a:rPr>
              <a:t>Trade detected</a:t>
            </a:r>
            <a:endParaRPr lang="en-US" sz="1250" dirty="0"/>
          </a:p>
        </p:txBody>
      </p:sp>
      <p:sp>
        <p:nvSpPr>
          <p:cNvPr id="9" name="Text 7"/>
          <p:cNvSpPr txBox="1"/>
          <p:nvPr/>
        </p:nvSpPr>
        <p:spPr>
          <a:xfrm>
            <a:off x="2670048" y="3456432"/>
            <a:ext cx="2880360" cy="402336"/>
          </a:xfrm>
          <a:prstGeom prst="rect">
            <a:avLst/>
          </a:prstGeom>
          <a:noFill/>
          <a:ln/>
        </p:spPr>
        <p:txBody>
          <a:bodyPr wrap="square" lIns="0" tIns="0" rIns="0" bIns="0" rtlCol="0" anchor="ctr"/>
          <a:lstStyle/>
          <a:p>
            <a:pPr indent="0" marL="0">
              <a:buNone/>
            </a:pPr>
            <a:r>
              <a:rPr lang="en-US" sz="1250" dirty="0">
                <a:solidFill>
                  <a:srgbClr val="5A6660"/>
                </a:solidFill>
              </a:rPr>
              <a:t>from: switch, light, spark</a:t>
            </a:r>
            <a:endParaRPr lang="en-US" sz="1250" dirty="0"/>
          </a:p>
        </p:txBody>
      </p:sp>
      <p:sp>
        <p:nvSpPr>
          <p:cNvPr id="10" name="Text 8"/>
          <p:cNvSpPr txBox="1"/>
          <p:nvPr/>
        </p:nvSpPr>
        <p:spPr>
          <a:xfrm>
            <a:off x="841248" y="3968496"/>
            <a:ext cx="1783080" cy="402336"/>
          </a:xfrm>
          <a:prstGeom prst="rect">
            <a:avLst/>
          </a:prstGeom>
          <a:noFill/>
          <a:ln/>
        </p:spPr>
        <p:txBody>
          <a:bodyPr wrap="square" lIns="0" tIns="0" rIns="0" bIns="0" rtlCol="0" anchor="ctr"/>
          <a:lstStyle/>
          <a:p>
            <a:pPr indent="0" marL="0">
              <a:buNone/>
            </a:pPr>
            <a:r>
              <a:rPr lang="en-US" sz="1250" b="1" dirty="0">
                <a:solidFill>
                  <a:srgbClr val="176B52"/>
                </a:solidFill>
              </a:rPr>
              <a:t>Safety note first</a:t>
            </a:r>
            <a:endParaRPr lang="en-US" sz="1250" dirty="0"/>
          </a:p>
        </p:txBody>
      </p:sp>
      <p:sp>
        <p:nvSpPr>
          <p:cNvPr id="11" name="Text 9"/>
          <p:cNvSpPr txBox="1"/>
          <p:nvPr/>
        </p:nvSpPr>
        <p:spPr>
          <a:xfrm>
            <a:off x="2670048" y="3968496"/>
            <a:ext cx="2880360" cy="402336"/>
          </a:xfrm>
          <a:prstGeom prst="rect">
            <a:avLst/>
          </a:prstGeom>
          <a:noFill/>
          <a:ln/>
        </p:spPr>
        <p:txBody>
          <a:bodyPr wrap="square" lIns="0" tIns="0" rIns="0" bIns="0" rtlCol="0" anchor="ctr"/>
          <a:lstStyle/>
          <a:p>
            <a:pPr indent="0" marL="0">
              <a:buNone/>
            </a:pPr>
            <a:r>
              <a:rPr lang="en-US" sz="1250" dirty="0">
                <a:solidFill>
                  <a:srgbClr val="5A6660"/>
                </a:solidFill>
              </a:rPr>
              <a:t>before any scheduling question</a:t>
            </a:r>
            <a:endParaRPr lang="en-US" sz="1250" dirty="0"/>
          </a:p>
        </p:txBody>
      </p:sp>
      <p:sp>
        <p:nvSpPr>
          <p:cNvPr id="12" name="card"/>
          <p:cNvSpPr/>
          <p:nvPr/>
        </p:nvSpPr>
        <p:spPr>
          <a:xfrm>
            <a:off x="6153912" y="1371600"/>
            <a:ext cx="5440680" cy="3429000"/>
          </a:xfrm>
          <a:prstGeom prst="roundRect">
            <a:avLst>
              <a:gd name="adj" fmla="val 2667"/>
            </a:avLst>
          </a:prstGeom>
          <a:solidFill>
            <a:srgbClr val="183C31"/>
          </a:solidFill>
          <a:ln w="12700">
            <a:solidFill>
              <a:srgbClr val="183C31"/>
            </a:solidFill>
            <a:prstDash val="solid"/>
          </a:ln>
        </p:spPr>
      </p:sp>
      <p:sp>
        <p:nvSpPr>
          <p:cNvPr id="13" name="eyebrow"/>
          <p:cNvSpPr txBox="1"/>
          <p:nvPr/>
        </p:nvSpPr>
        <p:spPr>
          <a:xfrm>
            <a:off x="6428232" y="1627632"/>
            <a:ext cx="4846320" cy="237744"/>
          </a:xfrm>
          <a:prstGeom prst="rect">
            <a:avLst/>
          </a:prstGeom>
          <a:noFill/>
          <a:ln/>
        </p:spPr>
        <p:txBody>
          <a:bodyPr wrap="square" lIns="0" tIns="0" rIns="0" bIns="0" rtlCol="0" anchor="ctr"/>
          <a:lstStyle/>
          <a:p>
            <a:pPr indent="0" marL="0">
              <a:buNone/>
            </a:pPr>
            <a:r>
              <a:rPr lang="en-US" sz="1100" b="1" spc="200" kern="0" dirty="0">
                <a:solidFill>
                  <a:srgbClr val="8FA89C"/>
                </a:solidFill>
              </a:rPr>
              <a:t>WHY IT MUST RUN ON THE PHONE</a:t>
            </a:r>
            <a:endParaRPr lang="en-US" sz="1100" dirty="0"/>
          </a:p>
        </p:txBody>
      </p:sp>
      <p:sp>
        <p:nvSpPr>
          <p:cNvPr id="14" name="Text 12"/>
          <p:cNvSpPr txBox="1"/>
          <p:nvPr/>
        </p:nvSpPr>
        <p:spPr>
          <a:xfrm>
            <a:off x="6428232" y="1956816"/>
            <a:ext cx="4892040" cy="420624"/>
          </a:xfrm>
          <a:prstGeom prst="rect">
            <a:avLst/>
          </a:prstGeom>
          <a:noFill/>
          <a:ln/>
        </p:spPr>
        <p:txBody>
          <a:bodyPr wrap="square" lIns="0" tIns="0" rIns="0" bIns="0" rtlCol="0" anchor="ctr"/>
          <a:lstStyle/>
          <a:p>
            <a:pPr indent="0" marL="0">
              <a:lnSpc>
                <a:spcPts val="1700"/>
              </a:lnSpc>
              <a:buNone/>
            </a:pPr>
            <a:r>
              <a:rPr lang="en-US" sz="1300" b="1" dirty="0">
                <a:solidFill>
                  <a:srgbClr val="D6ED8D"/>
                </a:solidFill>
              </a:rPr>
              <a:t>A co-op cannot send its members' voices to a cloud it does not own</a:t>
            </a:r>
            <a:endParaRPr lang="en-US" sz="1300" dirty="0"/>
          </a:p>
        </p:txBody>
      </p:sp>
      <p:sp>
        <p:nvSpPr>
          <p:cNvPr id="15" name="Text 13"/>
          <p:cNvSpPr txBox="1"/>
          <p:nvPr/>
        </p:nvSpPr>
        <p:spPr>
          <a:xfrm>
            <a:off x="6428232" y="2395728"/>
            <a:ext cx="4892040" cy="365760"/>
          </a:xfrm>
          <a:prstGeom prst="rect">
            <a:avLst/>
          </a:prstGeom>
          <a:noFill/>
          <a:ln/>
        </p:spPr>
        <p:txBody>
          <a:bodyPr wrap="square" lIns="0" tIns="0" rIns="0" bIns="0" rtlCol="0" anchor="ctr"/>
          <a:lstStyle/>
          <a:p>
            <a:pPr indent="0" marL="0">
              <a:lnSpc>
                <a:spcPts val="1500"/>
              </a:lnSpc>
              <a:buNone/>
            </a:pPr>
            <a:r>
              <a:rPr lang="en-US" sz="1150" dirty="0">
                <a:solidFill>
                  <a:srgbClr val="A9C0B6"/>
                </a:solidFill>
              </a:rPr>
              <a:t>The recording is the most personal thing the system touches.</a:t>
            </a:r>
            <a:endParaRPr lang="en-US" sz="1150" dirty="0"/>
          </a:p>
        </p:txBody>
      </p:sp>
      <p:sp>
        <p:nvSpPr>
          <p:cNvPr id="16" name="Text 14"/>
          <p:cNvSpPr txBox="1"/>
          <p:nvPr/>
        </p:nvSpPr>
        <p:spPr>
          <a:xfrm>
            <a:off x="6428232" y="2871216"/>
            <a:ext cx="4892040" cy="420624"/>
          </a:xfrm>
          <a:prstGeom prst="rect">
            <a:avLst/>
          </a:prstGeom>
          <a:noFill/>
          <a:ln/>
        </p:spPr>
        <p:txBody>
          <a:bodyPr wrap="square" lIns="0" tIns="0" rIns="0" bIns="0" rtlCol="0" anchor="ctr"/>
          <a:lstStyle/>
          <a:p>
            <a:pPr indent="0" marL="0">
              <a:lnSpc>
                <a:spcPts val="1700"/>
              </a:lnSpc>
              <a:buNone/>
            </a:pPr>
            <a:r>
              <a:rPr lang="en-US" sz="1300" b="1" dirty="0">
                <a:solidFill>
                  <a:srgbClr val="D6ED8D"/>
                </a:solidFill>
              </a:rPr>
              <a:t>₹500 buys a share. It does not buy per-token billing</a:t>
            </a:r>
            <a:endParaRPr lang="en-US" sz="1300" dirty="0"/>
          </a:p>
        </p:txBody>
      </p:sp>
      <p:sp>
        <p:nvSpPr>
          <p:cNvPr id="17" name="Text 15"/>
          <p:cNvSpPr txBox="1"/>
          <p:nvPr/>
        </p:nvSpPr>
        <p:spPr>
          <a:xfrm>
            <a:off x="6428232" y="3310128"/>
            <a:ext cx="4892040" cy="365760"/>
          </a:xfrm>
          <a:prstGeom prst="rect">
            <a:avLst/>
          </a:prstGeom>
          <a:noFill/>
          <a:ln/>
        </p:spPr>
        <p:txBody>
          <a:bodyPr wrap="square" lIns="0" tIns="0" rIns="0" bIns="0" rtlCol="0" anchor="ctr"/>
          <a:lstStyle/>
          <a:p>
            <a:pPr indent="0" marL="0">
              <a:lnSpc>
                <a:spcPts val="1500"/>
              </a:lnSpc>
              <a:buNone/>
            </a:pPr>
            <a:r>
              <a:rPr lang="en-US" sz="1150" dirty="0">
                <a:solidFill>
                  <a:srgbClr val="A9C0B6"/>
                </a:solidFill>
              </a:rPr>
              <a:t>On-device costs the cooperative nothing per complaint.</a:t>
            </a:r>
            <a:endParaRPr lang="en-US" sz="1150" dirty="0"/>
          </a:p>
        </p:txBody>
      </p:sp>
      <p:sp>
        <p:nvSpPr>
          <p:cNvPr id="18" name="Text 16"/>
          <p:cNvSpPr txBox="1"/>
          <p:nvPr/>
        </p:nvSpPr>
        <p:spPr>
          <a:xfrm>
            <a:off x="6428232" y="3785616"/>
            <a:ext cx="4892040" cy="420624"/>
          </a:xfrm>
          <a:prstGeom prst="rect">
            <a:avLst/>
          </a:prstGeom>
          <a:noFill/>
          <a:ln/>
        </p:spPr>
        <p:txBody>
          <a:bodyPr wrap="square" lIns="0" tIns="0" rIns="0" bIns="0" rtlCol="0" anchor="ctr"/>
          <a:lstStyle/>
          <a:p>
            <a:pPr indent="0" marL="0">
              <a:lnSpc>
                <a:spcPts val="1700"/>
              </a:lnSpc>
              <a:buNone/>
            </a:pPr>
            <a:r>
              <a:rPr lang="en-US" sz="1300" b="1" dirty="0">
                <a:solidFill>
                  <a:srgbClr val="D6ED8D"/>
                </a:solidFill>
              </a:rPr>
              <a:t>There is no signal in a stairwell</a:t>
            </a:r>
            <a:endParaRPr lang="en-US" sz="1300" dirty="0"/>
          </a:p>
        </p:txBody>
      </p:sp>
      <p:sp>
        <p:nvSpPr>
          <p:cNvPr id="19" name="Text 17"/>
          <p:cNvSpPr txBox="1"/>
          <p:nvPr/>
        </p:nvSpPr>
        <p:spPr>
          <a:xfrm>
            <a:off x="6428232" y="4224528"/>
            <a:ext cx="4892040" cy="365760"/>
          </a:xfrm>
          <a:prstGeom prst="rect">
            <a:avLst/>
          </a:prstGeom>
          <a:noFill/>
          <a:ln/>
        </p:spPr>
        <p:txBody>
          <a:bodyPr wrap="square" lIns="0" tIns="0" rIns="0" bIns="0" rtlCol="0" anchor="ctr"/>
          <a:lstStyle/>
          <a:p>
            <a:pPr indent="0" marL="0">
              <a:lnSpc>
                <a:spcPts val="1500"/>
              </a:lnSpc>
              <a:buNone/>
            </a:pPr>
            <a:r>
              <a:rPr lang="en-US" sz="1150" dirty="0">
                <a:solidFill>
                  <a:srgbClr val="A9C0B6"/>
                </a:solidFill>
              </a:rPr>
              <a:t>Ramesh works in basements, lift shafts and meter rooms.</a:t>
            </a:r>
            <a:endParaRPr lang="en-US" sz="1150" dirty="0"/>
          </a:p>
        </p:txBody>
      </p:sp>
      <p:sp>
        <p:nvSpPr>
          <p:cNvPr id="20" name="card"/>
          <p:cNvSpPr/>
          <p:nvPr/>
        </p:nvSpPr>
        <p:spPr>
          <a:xfrm>
            <a:off x="566928" y="4937760"/>
            <a:ext cx="11027664" cy="548640"/>
          </a:xfrm>
          <a:prstGeom prst="roundRect">
            <a:avLst>
              <a:gd name="adj" fmla="val 16667"/>
            </a:avLst>
          </a:prstGeom>
          <a:solidFill>
            <a:srgbClr val="EDF3EF"/>
          </a:solidFill>
          <a:ln w="12700">
            <a:solidFill>
              <a:srgbClr val="DCE6DF"/>
            </a:solidFill>
            <a:prstDash val="solid"/>
          </a:ln>
        </p:spPr>
      </p:sp>
      <p:sp>
        <p:nvSpPr>
          <p:cNvPr id="21" name="Text 19"/>
          <p:cNvSpPr txBox="1"/>
          <p:nvPr/>
        </p:nvSpPr>
        <p:spPr>
          <a:xfrm>
            <a:off x="841248" y="4937760"/>
            <a:ext cx="10479024" cy="548640"/>
          </a:xfrm>
          <a:prstGeom prst="rect">
            <a:avLst/>
          </a:prstGeom>
          <a:noFill/>
          <a:ln/>
        </p:spPr>
        <p:txBody>
          <a:bodyPr wrap="square" lIns="0" tIns="0" rIns="0" bIns="0" rtlCol="0" anchor="ctr"/>
          <a:lstStyle/>
          <a:p>
            <a:pPr indent="0" marL="0">
              <a:buNone/>
            </a:pPr>
            <a:r>
              <a:rPr lang="en-US" sz="1300" b="1" dirty="0">
                <a:solidFill>
                  <a:srgbClr val="173D31"/>
                </a:solidFill>
              </a:rPr>
              <a:t>“Structured on this phone. Nothing was sent to a server.” — the notice Ramesh actually sees, every time.</a:t>
            </a:r>
            <a:endParaRPr lang="en-US" sz="1300" dirty="0"/>
          </a:p>
        </p:txBody>
      </p:sp>
      <p:sp>
        <p:nvSpPr>
          <p:cNvPr id="22"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23" name="Text 21"/>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WEEK 2  ·  ON-DEVICE VOICE INTAKE  —  LIVE IN THE DEMO</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rgbClr val="FFFFFF"/>
                </a:solidFill>
              </a:rPr>
              <a:t>Every team will tell you what their AI does</a:t>
            </a:r>
            <a:endParaRPr lang="en-US" sz="3400" dirty="0"/>
          </a:p>
        </p:txBody>
      </p:sp>
      <p:sp>
        <p:nvSpPr>
          <p:cNvPr id="3" name="Text 1"/>
          <p:cNvSpPr txBox="1"/>
          <p:nvPr/>
        </p:nvSpPr>
        <p:spPr>
          <a:xfrm>
            <a:off x="566928" y="1298448"/>
            <a:ext cx="11027664" cy="411480"/>
          </a:xfrm>
          <a:prstGeom prst="rect">
            <a:avLst/>
          </a:prstGeom>
          <a:noFill/>
          <a:ln/>
        </p:spPr>
        <p:txBody>
          <a:bodyPr wrap="square" lIns="0" tIns="0" rIns="0" bIns="0" rtlCol="0" anchor="ctr"/>
          <a:lstStyle/>
          <a:p>
            <a:pPr indent="0" marL="0">
              <a:buNone/>
            </a:pPr>
            <a:r>
              <a:rPr lang="en-US" sz="2000" i="1" dirty="0">
                <a:solidFill>
                  <a:srgbClr val="D6ED8D"/>
                </a:solidFill>
              </a:rPr>
              <a:t>Here is what ours is forbidden to do — to Ramesh, or to anybody.</a:t>
            </a:r>
            <a:endParaRPr lang="en-US" sz="2000" dirty="0"/>
          </a:p>
        </p:txBody>
      </p:sp>
      <p:sp>
        <p:nvSpPr>
          <p:cNvPr id="4" name="card"/>
          <p:cNvSpPr/>
          <p:nvPr/>
        </p:nvSpPr>
        <p:spPr>
          <a:xfrm>
            <a:off x="566928" y="1883664"/>
            <a:ext cx="6309360" cy="493776"/>
          </a:xfrm>
          <a:prstGeom prst="roundRect">
            <a:avLst>
              <a:gd name="adj" fmla="val 18519"/>
            </a:avLst>
          </a:prstGeom>
          <a:solidFill>
            <a:srgbClr val="1F4A3C"/>
          </a:solidFill>
          <a:ln w="12700">
            <a:solidFill>
              <a:srgbClr val="2E5C4C"/>
            </a:solidFill>
            <a:prstDash val="solid"/>
          </a:ln>
        </p:spPr>
      </p:sp>
      <p:sp>
        <p:nvSpPr>
          <p:cNvPr id="5" name="badge"/>
          <p:cNvSpPr/>
          <p:nvPr/>
        </p:nvSpPr>
        <p:spPr>
          <a:xfrm>
            <a:off x="713232" y="1938528"/>
            <a:ext cx="384048" cy="384048"/>
          </a:xfrm>
          <a:prstGeom prst="ellipse">
            <a:avLst/>
          </a:prstGeom>
          <a:solidFill>
            <a:srgbClr val="9C382F"/>
          </a:solidFill>
          <a:ln w="12700">
            <a:solidFill>
              <a:srgbClr val="9C382F"/>
            </a:solidFill>
            <a:prstDash val="solid"/>
          </a:ln>
        </p:spPr>
      </p:sp>
      <p:sp>
        <p:nvSpPr>
          <p:cNvPr id="6" name="Text 4"/>
          <p:cNvSpPr txBox="1"/>
          <p:nvPr/>
        </p:nvSpPr>
        <p:spPr>
          <a:xfrm>
            <a:off x="71323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5"/>
          <p:cNvSpPr txBox="1"/>
          <p:nvPr/>
        </p:nvSpPr>
        <p:spPr>
          <a:xfrm>
            <a:off x="1243584" y="1883664"/>
            <a:ext cx="5486400" cy="493776"/>
          </a:xfrm>
          <a:prstGeom prst="rect">
            <a:avLst/>
          </a:prstGeom>
          <a:noFill/>
          <a:ln/>
        </p:spPr>
        <p:txBody>
          <a:bodyPr wrap="square" lIns="0" tIns="0" rIns="0" bIns="0" rtlCol="0" anchor="ctr"/>
          <a:lstStyle/>
          <a:p>
            <a:pPr indent="0" marL="0">
              <a:buNone/>
            </a:pPr>
            <a:r>
              <a:rPr lang="en-US" sz="1500" dirty="0">
                <a:solidFill>
                  <a:srgbClr val="FFFFFF"/>
                </a:solidFill>
              </a:rPr>
              <a:t>Select a worker for a job</a:t>
            </a:r>
            <a:endParaRPr lang="en-US" sz="1500" dirty="0"/>
          </a:p>
        </p:txBody>
      </p:sp>
      <p:sp>
        <p:nvSpPr>
          <p:cNvPr id="8" name="card"/>
          <p:cNvSpPr/>
          <p:nvPr/>
        </p:nvSpPr>
        <p:spPr>
          <a:xfrm>
            <a:off x="566928" y="2468880"/>
            <a:ext cx="6309360" cy="493776"/>
          </a:xfrm>
          <a:prstGeom prst="roundRect">
            <a:avLst>
              <a:gd name="adj" fmla="val 18519"/>
            </a:avLst>
          </a:prstGeom>
          <a:solidFill>
            <a:srgbClr val="1F4A3C"/>
          </a:solidFill>
          <a:ln w="12700">
            <a:solidFill>
              <a:srgbClr val="2E5C4C"/>
            </a:solidFill>
            <a:prstDash val="solid"/>
          </a:ln>
        </p:spPr>
      </p:sp>
      <p:sp>
        <p:nvSpPr>
          <p:cNvPr id="9" name="badge"/>
          <p:cNvSpPr/>
          <p:nvPr/>
        </p:nvSpPr>
        <p:spPr>
          <a:xfrm>
            <a:off x="713232" y="2523744"/>
            <a:ext cx="384048" cy="384048"/>
          </a:xfrm>
          <a:prstGeom prst="ellipse">
            <a:avLst/>
          </a:prstGeom>
          <a:solidFill>
            <a:srgbClr val="9C382F"/>
          </a:solidFill>
          <a:ln w="12700">
            <a:solidFill>
              <a:srgbClr val="9C382F"/>
            </a:solidFill>
            <a:prstDash val="solid"/>
          </a:ln>
        </p:spPr>
      </p:sp>
      <p:sp>
        <p:nvSpPr>
          <p:cNvPr id="10" name="Text 8"/>
          <p:cNvSpPr txBox="1"/>
          <p:nvPr/>
        </p:nvSpPr>
        <p:spPr>
          <a:xfrm>
            <a:off x="713232" y="25237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Text 9"/>
          <p:cNvSpPr txBox="1"/>
          <p:nvPr/>
        </p:nvSpPr>
        <p:spPr>
          <a:xfrm>
            <a:off x="1243584" y="2468880"/>
            <a:ext cx="5486400" cy="493776"/>
          </a:xfrm>
          <a:prstGeom prst="rect">
            <a:avLst/>
          </a:prstGeom>
          <a:noFill/>
          <a:ln/>
        </p:spPr>
        <p:txBody>
          <a:bodyPr wrap="square" lIns="0" tIns="0" rIns="0" bIns="0" rtlCol="0" anchor="ctr"/>
          <a:lstStyle/>
          <a:p>
            <a:pPr indent="0" marL="0">
              <a:buNone/>
            </a:pPr>
            <a:r>
              <a:rPr lang="en-US" sz="1500" dirty="0">
                <a:solidFill>
                  <a:srgbClr val="FFFFFF"/>
                </a:solidFill>
              </a:rPr>
              <a:t>Calculate or change anyone's pay</a:t>
            </a:r>
            <a:endParaRPr lang="en-US" sz="1500" dirty="0"/>
          </a:p>
        </p:txBody>
      </p:sp>
      <p:sp>
        <p:nvSpPr>
          <p:cNvPr id="12" name="card"/>
          <p:cNvSpPr/>
          <p:nvPr/>
        </p:nvSpPr>
        <p:spPr>
          <a:xfrm>
            <a:off x="566928" y="3054096"/>
            <a:ext cx="6309360" cy="493776"/>
          </a:xfrm>
          <a:prstGeom prst="roundRect">
            <a:avLst>
              <a:gd name="adj" fmla="val 18519"/>
            </a:avLst>
          </a:prstGeom>
          <a:solidFill>
            <a:srgbClr val="1F4A3C"/>
          </a:solidFill>
          <a:ln w="12700">
            <a:solidFill>
              <a:srgbClr val="2E5C4C"/>
            </a:solidFill>
            <a:prstDash val="solid"/>
          </a:ln>
        </p:spPr>
      </p:sp>
      <p:sp>
        <p:nvSpPr>
          <p:cNvPr id="13" name="badge"/>
          <p:cNvSpPr/>
          <p:nvPr/>
        </p:nvSpPr>
        <p:spPr>
          <a:xfrm>
            <a:off x="713232" y="3108960"/>
            <a:ext cx="384048" cy="384048"/>
          </a:xfrm>
          <a:prstGeom prst="ellipse">
            <a:avLst/>
          </a:prstGeom>
          <a:solidFill>
            <a:srgbClr val="9C382F"/>
          </a:solidFill>
          <a:ln w="12700">
            <a:solidFill>
              <a:srgbClr val="9C382F"/>
            </a:solidFill>
            <a:prstDash val="solid"/>
          </a:ln>
        </p:spPr>
      </p:sp>
      <p:sp>
        <p:nvSpPr>
          <p:cNvPr id="14" name="Text 12"/>
          <p:cNvSpPr txBox="1"/>
          <p:nvPr/>
        </p:nvSpPr>
        <p:spPr>
          <a:xfrm>
            <a:off x="713232" y="3108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5" name="Text 13"/>
          <p:cNvSpPr txBox="1"/>
          <p:nvPr/>
        </p:nvSpPr>
        <p:spPr>
          <a:xfrm>
            <a:off x="1243584" y="3054096"/>
            <a:ext cx="5486400" cy="493776"/>
          </a:xfrm>
          <a:prstGeom prst="rect">
            <a:avLst/>
          </a:prstGeom>
          <a:noFill/>
          <a:ln/>
        </p:spPr>
        <p:txBody>
          <a:bodyPr wrap="square" lIns="0" tIns="0" rIns="0" bIns="0" rtlCol="0" anchor="ctr"/>
          <a:lstStyle/>
          <a:p>
            <a:pPr indent="0" marL="0">
              <a:buNone/>
            </a:pPr>
            <a:r>
              <a:rPr lang="en-US" sz="1500" dirty="0">
                <a:solidFill>
                  <a:srgbClr val="FFFFFF"/>
                </a:solidFill>
              </a:rPr>
              <a:t>Rank, score or penalise a member</a:t>
            </a:r>
            <a:endParaRPr lang="en-US" sz="1500" dirty="0"/>
          </a:p>
        </p:txBody>
      </p:sp>
      <p:sp>
        <p:nvSpPr>
          <p:cNvPr id="16" name="card"/>
          <p:cNvSpPr/>
          <p:nvPr/>
        </p:nvSpPr>
        <p:spPr>
          <a:xfrm>
            <a:off x="566928" y="3639312"/>
            <a:ext cx="6309360" cy="493776"/>
          </a:xfrm>
          <a:prstGeom prst="roundRect">
            <a:avLst>
              <a:gd name="adj" fmla="val 18519"/>
            </a:avLst>
          </a:prstGeom>
          <a:solidFill>
            <a:srgbClr val="1F4A3C"/>
          </a:solidFill>
          <a:ln w="12700">
            <a:solidFill>
              <a:srgbClr val="2E5C4C"/>
            </a:solidFill>
            <a:prstDash val="solid"/>
          </a:ln>
        </p:spPr>
      </p:sp>
      <p:sp>
        <p:nvSpPr>
          <p:cNvPr id="17" name="badge"/>
          <p:cNvSpPr/>
          <p:nvPr/>
        </p:nvSpPr>
        <p:spPr>
          <a:xfrm>
            <a:off x="713232" y="3694176"/>
            <a:ext cx="384048" cy="384048"/>
          </a:xfrm>
          <a:prstGeom prst="ellipse">
            <a:avLst/>
          </a:prstGeom>
          <a:solidFill>
            <a:srgbClr val="9C382F"/>
          </a:solidFill>
          <a:ln w="12700">
            <a:solidFill>
              <a:srgbClr val="9C382F"/>
            </a:solidFill>
            <a:prstDash val="solid"/>
          </a:ln>
        </p:spPr>
      </p:sp>
      <p:sp>
        <p:nvSpPr>
          <p:cNvPr id="18" name="Text 16"/>
          <p:cNvSpPr txBox="1"/>
          <p:nvPr/>
        </p:nvSpPr>
        <p:spPr>
          <a:xfrm>
            <a:off x="713232" y="36941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7"/>
          <p:cNvSpPr txBox="1"/>
          <p:nvPr/>
        </p:nvSpPr>
        <p:spPr>
          <a:xfrm>
            <a:off x="1243584" y="3639312"/>
            <a:ext cx="5486400" cy="493776"/>
          </a:xfrm>
          <a:prstGeom prst="rect">
            <a:avLst/>
          </a:prstGeom>
          <a:noFill/>
          <a:ln/>
        </p:spPr>
        <p:txBody>
          <a:bodyPr wrap="square" lIns="0" tIns="0" rIns="0" bIns="0" rtlCol="0" anchor="ctr"/>
          <a:lstStyle/>
          <a:p>
            <a:pPr indent="0" marL="0">
              <a:buNone/>
            </a:pPr>
            <a:r>
              <a:rPr lang="en-US" sz="1500" dirty="0">
                <a:solidFill>
                  <a:srgbClr val="FFFFFF"/>
                </a:solidFill>
              </a:rPr>
              <a:t>Decide an appeal</a:t>
            </a:r>
            <a:endParaRPr lang="en-US" sz="1500" dirty="0"/>
          </a:p>
        </p:txBody>
      </p:sp>
      <p:sp>
        <p:nvSpPr>
          <p:cNvPr id="20" name="card"/>
          <p:cNvSpPr/>
          <p:nvPr/>
        </p:nvSpPr>
        <p:spPr>
          <a:xfrm>
            <a:off x="566928" y="4224528"/>
            <a:ext cx="6309360" cy="493776"/>
          </a:xfrm>
          <a:prstGeom prst="roundRect">
            <a:avLst>
              <a:gd name="adj" fmla="val 18519"/>
            </a:avLst>
          </a:prstGeom>
          <a:solidFill>
            <a:srgbClr val="1F4A3C"/>
          </a:solidFill>
          <a:ln w="12700">
            <a:solidFill>
              <a:srgbClr val="2E5C4C"/>
            </a:solidFill>
            <a:prstDash val="solid"/>
          </a:ln>
        </p:spPr>
      </p:sp>
      <p:sp>
        <p:nvSpPr>
          <p:cNvPr id="21" name="badge"/>
          <p:cNvSpPr/>
          <p:nvPr/>
        </p:nvSpPr>
        <p:spPr>
          <a:xfrm>
            <a:off x="713232" y="4279392"/>
            <a:ext cx="384048" cy="384048"/>
          </a:xfrm>
          <a:prstGeom prst="ellipse">
            <a:avLst/>
          </a:prstGeom>
          <a:solidFill>
            <a:srgbClr val="9C382F"/>
          </a:solidFill>
          <a:ln w="12700">
            <a:solidFill>
              <a:srgbClr val="9C382F"/>
            </a:solidFill>
            <a:prstDash val="solid"/>
          </a:ln>
        </p:spPr>
      </p:sp>
      <p:sp>
        <p:nvSpPr>
          <p:cNvPr id="22" name="Text 20"/>
          <p:cNvSpPr txBox="1"/>
          <p:nvPr/>
        </p:nvSpPr>
        <p:spPr>
          <a:xfrm>
            <a:off x="713232" y="4279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1"/>
          <p:cNvSpPr txBox="1"/>
          <p:nvPr/>
        </p:nvSpPr>
        <p:spPr>
          <a:xfrm>
            <a:off x="1243584" y="4224528"/>
            <a:ext cx="5486400" cy="493776"/>
          </a:xfrm>
          <a:prstGeom prst="rect">
            <a:avLst/>
          </a:prstGeom>
          <a:noFill/>
          <a:ln/>
        </p:spPr>
        <p:txBody>
          <a:bodyPr wrap="square" lIns="0" tIns="0" rIns="0" bIns="0" rtlCol="0" anchor="ctr"/>
          <a:lstStyle/>
          <a:p>
            <a:pPr indent="0" marL="0">
              <a:buNone/>
            </a:pPr>
            <a:r>
              <a:rPr lang="en-US" sz="1500" dirty="0">
                <a:solidFill>
                  <a:srgbClr val="FFFFFF"/>
                </a:solidFill>
              </a:rPr>
              <a:t>Activate or amend a policy</a:t>
            </a:r>
            <a:endParaRPr lang="en-US" sz="1500" dirty="0"/>
          </a:p>
        </p:txBody>
      </p:sp>
      <p:sp>
        <p:nvSpPr>
          <p:cNvPr id="24" name="card"/>
          <p:cNvSpPr/>
          <p:nvPr/>
        </p:nvSpPr>
        <p:spPr>
          <a:xfrm>
            <a:off x="7187184" y="1883664"/>
            <a:ext cx="4407408" cy="2834640"/>
          </a:xfrm>
          <a:prstGeom prst="roundRect">
            <a:avLst>
              <a:gd name="adj" fmla="val 3226"/>
            </a:avLst>
          </a:prstGeom>
          <a:solidFill>
            <a:srgbClr val="D6ED8D"/>
          </a:solidFill>
          <a:ln w="12700">
            <a:solidFill>
              <a:srgbClr val="D6ED8D"/>
            </a:solidFill>
            <a:prstDash val="solid"/>
          </a:ln>
        </p:spPr>
      </p:sp>
      <p:sp>
        <p:nvSpPr>
          <p:cNvPr id="25" name="Text 23"/>
          <p:cNvSpPr txBox="1"/>
          <p:nvPr/>
        </p:nvSpPr>
        <p:spPr>
          <a:xfrm>
            <a:off x="7461504" y="2121408"/>
            <a:ext cx="3858768" cy="822960"/>
          </a:xfrm>
          <a:prstGeom prst="rect">
            <a:avLst/>
          </a:prstGeom>
          <a:noFill/>
          <a:ln/>
        </p:spPr>
        <p:txBody>
          <a:bodyPr wrap="square" lIns="0" tIns="0" rIns="0" bIns="0" rtlCol="0" anchor="ctr"/>
          <a:lstStyle/>
          <a:p>
            <a:pPr indent="0" marL="0">
              <a:lnSpc>
                <a:spcPts val="2500"/>
              </a:lnSpc>
              <a:buNone/>
            </a:pPr>
            <a:r>
              <a:rPr lang="en-US" sz="1900" b="1" dirty="0">
                <a:solidFill>
                  <a:srgbClr val="173D31"/>
                </a:solidFill>
              </a:rPr>
              <a:t>AI helps Ramesh speak. It never decides his livelihood.</a:t>
            </a:r>
            <a:endParaRPr lang="en-US" sz="1900" dirty="0"/>
          </a:p>
        </p:txBody>
      </p:sp>
      <p:sp>
        <p:nvSpPr>
          <p:cNvPr id="26" name="Text 24"/>
          <p:cNvSpPr txBox="1"/>
          <p:nvPr/>
        </p:nvSpPr>
        <p:spPr>
          <a:xfrm>
            <a:off x="7461504" y="3017520"/>
            <a:ext cx="3858768" cy="1463040"/>
          </a:xfrm>
          <a:prstGeom prst="rect">
            <a:avLst/>
          </a:prstGeom>
          <a:noFill/>
          <a:ln/>
        </p:spPr>
        <p:txBody>
          <a:bodyPr wrap="square" lIns="0" tIns="0" rIns="0" bIns="0" rtlCol="0" anchor="ctr"/>
          <a:lstStyle/>
          <a:p>
            <a:pPr indent="0" marL="0">
              <a:lnSpc>
                <a:spcPts val="1700"/>
              </a:lnSpc>
              <a:buNone/>
            </a:pPr>
            <a:r>
              <a:rPr lang="en-US" sz="1200" dirty="0">
                <a:solidFill>
                  <a:srgbClr val="3C5A28"/>
                </a:solidFill>
              </a:rPr>
              <a:t>Enforced in three places, not in a policy document: the system prompt of every AI route, a deterministic fallback so the product behaves identically with the model switched off, and a test that fails the build if the boundary moves.</a:t>
            </a:r>
            <a:endParaRPr lang="en-US" sz="1200" dirty="0"/>
          </a:p>
        </p:txBody>
      </p:sp>
      <p:sp>
        <p:nvSpPr>
          <p:cNvPr id="27" name="Text 25"/>
          <p:cNvSpPr txBox="1"/>
          <p:nvPr/>
        </p:nvSpPr>
        <p:spPr>
          <a:xfrm>
            <a:off x="566928" y="4956048"/>
            <a:ext cx="11027664" cy="457200"/>
          </a:xfrm>
          <a:prstGeom prst="rect">
            <a:avLst/>
          </a:prstGeom>
          <a:noFill/>
          <a:ln/>
        </p:spPr>
        <p:txBody>
          <a:bodyPr wrap="square" lIns="0" tIns="0" rIns="0" bIns="0" rtlCol="0" anchor="ctr"/>
          <a:lstStyle/>
          <a:p>
            <a:pPr indent="0" marL="0">
              <a:buNone/>
            </a:pPr>
            <a:r>
              <a:rPr lang="en-US" sz="1350" dirty="0">
                <a:solidFill>
                  <a:srgbClr val="A9C0B6"/>
                </a:solidFill>
              </a:rPr>
              <a:t>The on-device ticket has no field for pay, rank or worker. We did not add a disclaimer — we removed the capability.</a:t>
            </a:r>
            <a:endParaRPr lang="en-US" sz="1350" dirty="0"/>
          </a:p>
        </p:txBody>
      </p:sp>
      <p:sp>
        <p:nvSpPr>
          <p:cNvPr id="28" name="card"/>
          <p:cNvSpPr/>
          <p:nvPr/>
        </p:nvSpPr>
        <p:spPr>
          <a:xfrm>
            <a:off x="566928" y="6016752"/>
            <a:ext cx="11027664" cy="457200"/>
          </a:xfrm>
          <a:prstGeom prst="roundRect">
            <a:avLst>
              <a:gd name="adj" fmla="val 20000"/>
            </a:avLst>
          </a:prstGeom>
          <a:solidFill>
            <a:srgbClr val="1F4A3C"/>
          </a:solidFill>
          <a:ln w="12700">
            <a:solidFill>
              <a:srgbClr val="2E5C4C"/>
            </a:solidFill>
            <a:prstDash val="solid"/>
          </a:ln>
        </p:spPr>
      </p:sp>
      <p:sp>
        <p:nvSpPr>
          <p:cNvPr id="29" name="Text 27"/>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8FA89C"/>
                </a:solidFill>
              </a:rPr>
              <a:t>WEEK 2  ·  THE LINE THE COOPERATIVE DREW AROUND ITS OWN SOFTWARE</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E8179"/>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Week 3 — Ramesh is at the door</a:t>
            </a:r>
            <a:endParaRPr lang="en-US" sz="3400" dirty="0"/>
          </a:p>
        </p:txBody>
      </p:sp>
      <p:sp>
        <p:nvSpPr>
          <p:cNvPr id="3" name="card"/>
          <p:cNvSpPr/>
          <p:nvPr/>
        </p:nvSpPr>
        <p:spPr>
          <a:xfrm>
            <a:off x="566928" y="1417320"/>
            <a:ext cx="2660904" cy="2743200"/>
          </a:xfrm>
          <a:prstGeom prst="roundRect">
            <a:avLst>
              <a:gd name="adj" fmla="val 3436"/>
            </a:avLst>
          </a:prstGeom>
          <a:solidFill>
            <a:srgbClr val="FFFFFF"/>
          </a:solidFill>
          <a:ln w="12700">
            <a:solidFill>
              <a:srgbClr val="DCE2DD"/>
            </a:solidFill>
            <a:prstDash val="solid"/>
          </a:ln>
        </p:spPr>
      </p:sp>
      <p:sp>
        <p:nvSpPr>
          <p:cNvPr id="4" name="badge"/>
          <p:cNvSpPr/>
          <p:nvPr/>
        </p:nvSpPr>
        <p:spPr>
          <a:xfrm>
            <a:off x="804672" y="1664208"/>
            <a:ext cx="438912" cy="438912"/>
          </a:xfrm>
          <a:prstGeom prst="ellipse">
            <a:avLst/>
          </a:prstGeom>
          <a:solidFill>
            <a:srgbClr val="D6ED8D"/>
          </a:solidFill>
          <a:ln w="12700">
            <a:solidFill>
              <a:srgbClr val="D6ED8D"/>
            </a:solidFill>
            <a:prstDash val="solid"/>
          </a:ln>
        </p:spPr>
      </p:sp>
      <p:sp>
        <p:nvSpPr>
          <p:cNvPr id="5" name="Text 3"/>
          <p:cNvSpPr txBox="1"/>
          <p:nvPr/>
        </p:nvSpPr>
        <p:spPr>
          <a:xfrm>
            <a:off x="804672" y="1664208"/>
            <a:ext cx="438912" cy="438912"/>
          </a:xfrm>
          <a:prstGeom prst="rect">
            <a:avLst/>
          </a:prstGeom>
          <a:noFill/>
          <a:ln/>
        </p:spPr>
        <p:txBody>
          <a:bodyPr wrap="square" lIns="0" tIns="0" rIns="0" bIns="0" rtlCol="0" anchor="ctr"/>
          <a:lstStyle/>
          <a:p>
            <a:pPr algn="ctr" indent="0" marL="0">
              <a:buNone/>
            </a:pPr>
            <a:r>
              <a:rPr lang="en-US" sz="1400" b="1" dirty="0">
                <a:solidFill>
                  <a:srgbClr val="173D31"/>
                </a:solidFill>
              </a:rPr>
              <a:t>1</a:t>
            </a:r>
            <a:endParaRPr lang="en-US" sz="1400" dirty="0"/>
          </a:p>
        </p:txBody>
      </p:sp>
      <p:sp>
        <p:nvSpPr>
          <p:cNvPr id="6" name="Text 4"/>
          <p:cNvSpPr txBox="1"/>
          <p:nvPr/>
        </p:nvSpPr>
        <p:spPr>
          <a:xfrm>
            <a:off x="804672" y="2231136"/>
            <a:ext cx="2185416" cy="658368"/>
          </a:xfrm>
          <a:prstGeom prst="rect">
            <a:avLst/>
          </a:prstGeom>
          <a:noFill/>
          <a:ln/>
        </p:spPr>
        <p:txBody>
          <a:bodyPr wrap="square" lIns="0" tIns="0" rIns="0" bIns="0" rtlCol="0" anchor="ctr"/>
          <a:lstStyle/>
          <a:p>
            <a:pPr indent="0" marL="0">
              <a:lnSpc>
                <a:spcPts val="2000"/>
              </a:lnSpc>
              <a:buNone/>
            </a:pPr>
            <a:r>
              <a:rPr lang="en-US" sz="1500" b="1" dirty="0">
                <a:solidFill>
                  <a:srgbClr val="173D31"/>
                </a:solidFill>
              </a:rPr>
              <a:t>The customer issues the code</a:t>
            </a:r>
            <a:endParaRPr lang="en-US" sz="1500" dirty="0"/>
          </a:p>
        </p:txBody>
      </p:sp>
      <p:sp>
        <p:nvSpPr>
          <p:cNvPr id="7" name="Text 5"/>
          <p:cNvSpPr txBox="1"/>
          <p:nvPr/>
        </p:nvSpPr>
        <p:spPr>
          <a:xfrm>
            <a:off x="804672" y="2944368"/>
            <a:ext cx="2185416" cy="1005840"/>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Only she can. Ramesh cannot start a job by declaring that he started it.</a:t>
            </a:r>
            <a:endParaRPr lang="en-US" sz="1200" dirty="0"/>
          </a:p>
        </p:txBody>
      </p:sp>
      <p:sp>
        <p:nvSpPr>
          <p:cNvPr id="8" name="card"/>
          <p:cNvSpPr/>
          <p:nvPr/>
        </p:nvSpPr>
        <p:spPr>
          <a:xfrm>
            <a:off x="3401568" y="1417320"/>
            <a:ext cx="2660904" cy="2743200"/>
          </a:xfrm>
          <a:prstGeom prst="roundRect">
            <a:avLst>
              <a:gd name="adj" fmla="val 3436"/>
            </a:avLst>
          </a:prstGeom>
          <a:solidFill>
            <a:srgbClr val="FFFFFF"/>
          </a:solidFill>
          <a:ln w="12700">
            <a:solidFill>
              <a:srgbClr val="DCE2DD"/>
            </a:solidFill>
            <a:prstDash val="solid"/>
          </a:ln>
        </p:spPr>
      </p:sp>
      <p:sp>
        <p:nvSpPr>
          <p:cNvPr id="9" name="badge"/>
          <p:cNvSpPr/>
          <p:nvPr/>
        </p:nvSpPr>
        <p:spPr>
          <a:xfrm>
            <a:off x="3639312" y="1664208"/>
            <a:ext cx="438912" cy="438912"/>
          </a:xfrm>
          <a:prstGeom prst="ellipse">
            <a:avLst/>
          </a:prstGeom>
          <a:solidFill>
            <a:srgbClr val="D6ED8D"/>
          </a:solidFill>
          <a:ln w="12700">
            <a:solidFill>
              <a:srgbClr val="D6ED8D"/>
            </a:solidFill>
            <a:prstDash val="solid"/>
          </a:ln>
        </p:spPr>
      </p:sp>
      <p:sp>
        <p:nvSpPr>
          <p:cNvPr id="10" name="Text 8"/>
          <p:cNvSpPr txBox="1"/>
          <p:nvPr/>
        </p:nvSpPr>
        <p:spPr>
          <a:xfrm>
            <a:off x="3639312" y="1664208"/>
            <a:ext cx="438912" cy="438912"/>
          </a:xfrm>
          <a:prstGeom prst="rect">
            <a:avLst/>
          </a:prstGeom>
          <a:noFill/>
          <a:ln/>
        </p:spPr>
        <p:txBody>
          <a:bodyPr wrap="square" lIns="0" tIns="0" rIns="0" bIns="0" rtlCol="0" anchor="ctr"/>
          <a:lstStyle/>
          <a:p>
            <a:pPr algn="ctr" indent="0" marL="0">
              <a:buNone/>
            </a:pPr>
            <a:r>
              <a:rPr lang="en-US" sz="1400" b="1" dirty="0">
                <a:solidFill>
                  <a:srgbClr val="173D31"/>
                </a:solidFill>
              </a:rPr>
              <a:t>2</a:t>
            </a:r>
            <a:endParaRPr lang="en-US" sz="1400" dirty="0"/>
          </a:p>
        </p:txBody>
      </p:sp>
      <p:sp>
        <p:nvSpPr>
          <p:cNvPr id="11" name="Text 9"/>
          <p:cNvSpPr txBox="1"/>
          <p:nvPr/>
        </p:nvSpPr>
        <p:spPr>
          <a:xfrm>
            <a:off x="3639312" y="2231136"/>
            <a:ext cx="2185416" cy="658368"/>
          </a:xfrm>
          <a:prstGeom prst="rect">
            <a:avLst/>
          </a:prstGeom>
          <a:noFill/>
          <a:ln/>
        </p:spPr>
        <p:txBody>
          <a:bodyPr wrap="square" lIns="0" tIns="0" rIns="0" bIns="0" rtlCol="0" anchor="ctr"/>
          <a:lstStyle/>
          <a:p>
            <a:pPr indent="0" marL="0">
              <a:lnSpc>
                <a:spcPts val="2000"/>
              </a:lnSpc>
              <a:buNone/>
            </a:pPr>
            <a:r>
              <a:rPr lang="en-US" sz="1500" b="1" dirty="0">
                <a:solidFill>
                  <a:srgbClr val="173D31"/>
                </a:solidFill>
              </a:rPr>
              <a:t>She reads it aloud</a:t>
            </a:r>
            <a:endParaRPr lang="en-US" sz="1500" dirty="0"/>
          </a:p>
        </p:txBody>
      </p:sp>
      <p:sp>
        <p:nvSpPr>
          <p:cNvPr id="12" name="Text 10"/>
          <p:cNvSpPr txBox="1"/>
          <p:nvPr/>
        </p:nvSpPr>
        <p:spPr>
          <a:xfrm>
            <a:off x="3639312" y="2944368"/>
            <a:ext cx="2185416" cy="1005840"/>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He types six digits. HMAC-SHA256, bound to this job and this purpose.</a:t>
            </a:r>
            <a:endParaRPr lang="en-US" sz="1200" dirty="0"/>
          </a:p>
        </p:txBody>
      </p:sp>
      <p:sp>
        <p:nvSpPr>
          <p:cNvPr id="13" name="card"/>
          <p:cNvSpPr/>
          <p:nvPr/>
        </p:nvSpPr>
        <p:spPr>
          <a:xfrm>
            <a:off x="6236208" y="1417320"/>
            <a:ext cx="2660904" cy="2743200"/>
          </a:xfrm>
          <a:prstGeom prst="roundRect">
            <a:avLst>
              <a:gd name="adj" fmla="val 3436"/>
            </a:avLst>
          </a:prstGeom>
          <a:solidFill>
            <a:srgbClr val="FFFFFF"/>
          </a:solidFill>
          <a:ln w="12700">
            <a:solidFill>
              <a:srgbClr val="DCE2DD"/>
            </a:solidFill>
            <a:prstDash val="solid"/>
          </a:ln>
        </p:spPr>
      </p:sp>
      <p:sp>
        <p:nvSpPr>
          <p:cNvPr id="14" name="badge"/>
          <p:cNvSpPr/>
          <p:nvPr/>
        </p:nvSpPr>
        <p:spPr>
          <a:xfrm>
            <a:off x="6473952" y="1664208"/>
            <a:ext cx="438912" cy="438912"/>
          </a:xfrm>
          <a:prstGeom prst="ellipse">
            <a:avLst/>
          </a:prstGeom>
          <a:solidFill>
            <a:srgbClr val="D6ED8D"/>
          </a:solidFill>
          <a:ln w="12700">
            <a:solidFill>
              <a:srgbClr val="D6ED8D"/>
            </a:solidFill>
            <a:prstDash val="solid"/>
          </a:ln>
        </p:spPr>
      </p:sp>
      <p:sp>
        <p:nvSpPr>
          <p:cNvPr id="15" name="Text 13"/>
          <p:cNvSpPr txBox="1"/>
          <p:nvPr/>
        </p:nvSpPr>
        <p:spPr>
          <a:xfrm>
            <a:off x="6473952" y="1664208"/>
            <a:ext cx="438912" cy="438912"/>
          </a:xfrm>
          <a:prstGeom prst="rect">
            <a:avLst/>
          </a:prstGeom>
          <a:noFill/>
          <a:ln/>
        </p:spPr>
        <p:txBody>
          <a:bodyPr wrap="square" lIns="0" tIns="0" rIns="0" bIns="0" rtlCol="0" anchor="ctr"/>
          <a:lstStyle/>
          <a:p>
            <a:pPr algn="ctr" indent="0" marL="0">
              <a:buNone/>
            </a:pPr>
            <a:r>
              <a:rPr lang="en-US" sz="1400" b="1" dirty="0">
                <a:solidFill>
                  <a:srgbClr val="173D31"/>
                </a:solidFill>
              </a:rPr>
              <a:t>3</a:t>
            </a:r>
            <a:endParaRPr lang="en-US" sz="1400" dirty="0"/>
          </a:p>
        </p:txBody>
      </p:sp>
      <p:sp>
        <p:nvSpPr>
          <p:cNvPr id="16" name="Text 14"/>
          <p:cNvSpPr txBox="1"/>
          <p:nvPr/>
        </p:nvSpPr>
        <p:spPr>
          <a:xfrm>
            <a:off x="6473952" y="2231136"/>
            <a:ext cx="2185416" cy="658368"/>
          </a:xfrm>
          <a:prstGeom prst="rect">
            <a:avLst/>
          </a:prstGeom>
          <a:noFill/>
          <a:ln/>
        </p:spPr>
        <p:txBody>
          <a:bodyPr wrap="square" lIns="0" tIns="0" rIns="0" bIns="0" rtlCol="0" anchor="ctr"/>
          <a:lstStyle/>
          <a:p>
            <a:pPr indent="0" marL="0">
              <a:lnSpc>
                <a:spcPts val="2000"/>
              </a:lnSpc>
              <a:buNone/>
            </a:pPr>
            <a:r>
              <a:rPr lang="en-US" sz="1500" b="1" dirty="0">
                <a:solidFill>
                  <a:srgbClr val="173D31"/>
                </a:solidFill>
              </a:rPr>
              <a:t>The register moves</a:t>
            </a:r>
            <a:endParaRPr lang="en-US" sz="1500" dirty="0"/>
          </a:p>
        </p:txBody>
      </p:sp>
      <p:sp>
        <p:nvSpPr>
          <p:cNvPr id="17" name="Text 15"/>
          <p:cNvSpPr txBox="1"/>
          <p:nvPr/>
        </p:nvSpPr>
        <p:spPr>
          <a:xfrm>
            <a:off x="6473952" y="2944368"/>
            <a:ext cx="2185416" cy="1005840"/>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Step 5 of 9 becomes step 7 of 9: “Work started with customer confirmation.”</a:t>
            </a:r>
            <a:endParaRPr lang="en-US" sz="1200" dirty="0"/>
          </a:p>
        </p:txBody>
      </p:sp>
      <p:sp>
        <p:nvSpPr>
          <p:cNvPr id="18" name="card"/>
          <p:cNvSpPr/>
          <p:nvPr/>
        </p:nvSpPr>
        <p:spPr>
          <a:xfrm>
            <a:off x="9070848" y="1417320"/>
            <a:ext cx="2660904" cy="2743200"/>
          </a:xfrm>
          <a:prstGeom prst="roundRect">
            <a:avLst>
              <a:gd name="adj" fmla="val 3436"/>
            </a:avLst>
          </a:prstGeom>
          <a:solidFill>
            <a:srgbClr val="FFFFFF"/>
          </a:solidFill>
          <a:ln w="12700">
            <a:solidFill>
              <a:srgbClr val="DCE2DD"/>
            </a:solidFill>
            <a:prstDash val="solid"/>
          </a:ln>
        </p:spPr>
      </p:sp>
      <p:sp>
        <p:nvSpPr>
          <p:cNvPr id="19" name="badge"/>
          <p:cNvSpPr/>
          <p:nvPr/>
        </p:nvSpPr>
        <p:spPr>
          <a:xfrm>
            <a:off x="9308592" y="1664208"/>
            <a:ext cx="438912" cy="438912"/>
          </a:xfrm>
          <a:prstGeom prst="ellipse">
            <a:avLst/>
          </a:prstGeom>
          <a:solidFill>
            <a:srgbClr val="D6ED8D"/>
          </a:solidFill>
          <a:ln w="12700">
            <a:solidFill>
              <a:srgbClr val="D6ED8D"/>
            </a:solidFill>
            <a:prstDash val="solid"/>
          </a:ln>
        </p:spPr>
      </p:sp>
      <p:sp>
        <p:nvSpPr>
          <p:cNvPr id="20" name="Text 18"/>
          <p:cNvSpPr txBox="1"/>
          <p:nvPr/>
        </p:nvSpPr>
        <p:spPr>
          <a:xfrm>
            <a:off x="9308592" y="1664208"/>
            <a:ext cx="438912" cy="438912"/>
          </a:xfrm>
          <a:prstGeom prst="rect">
            <a:avLst/>
          </a:prstGeom>
          <a:noFill/>
          <a:ln/>
        </p:spPr>
        <p:txBody>
          <a:bodyPr wrap="square" lIns="0" tIns="0" rIns="0" bIns="0" rtlCol="0" anchor="ctr"/>
          <a:lstStyle/>
          <a:p>
            <a:pPr algn="ctr" indent="0" marL="0">
              <a:buNone/>
            </a:pPr>
            <a:r>
              <a:rPr lang="en-US" sz="1400" b="1" dirty="0">
                <a:solidFill>
                  <a:srgbClr val="173D31"/>
                </a:solidFill>
              </a:rPr>
              <a:t>4</a:t>
            </a:r>
            <a:endParaRPr lang="en-US" sz="1400" dirty="0"/>
          </a:p>
        </p:txBody>
      </p:sp>
      <p:sp>
        <p:nvSpPr>
          <p:cNvPr id="21" name="Text 19"/>
          <p:cNvSpPr txBox="1"/>
          <p:nvPr/>
        </p:nvSpPr>
        <p:spPr>
          <a:xfrm>
            <a:off x="9308592" y="2231136"/>
            <a:ext cx="2185416" cy="658368"/>
          </a:xfrm>
          <a:prstGeom prst="rect">
            <a:avLst/>
          </a:prstGeom>
          <a:noFill/>
          <a:ln/>
        </p:spPr>
        <p:txBody>
          <a:bodyPr wrap="square" lIns="0" tIns="0" rIns="0" bIns="0" rtlCol="0" anchor="ctr"/>
          <a:lstStyle/>
          <a:p>
            <a:pPr indent="0" marL="0">
              <a:lnSpc>
                <a:spcPts val="2000"/>
              </a:lnSpc>
              <a:buNone/>
            </a:pPr>
            <a:r>
              <a:rPr lang="en-US" sz="1500" b="1" dirty="0">
                <a:solidFill>
                  <a:srgbClr val="173D31"/>
                </a:solidFill>
              </a:rPr>
              <a:t>The receipt freezes</a:t>
            </a:r>
            <a:endParaRPr lang="en-US" sz="1500" dirty="0"/>
          </a:p>
        </p:txBody>
      </p:sp>
      <p:sp>
        <p:nvSpPr>
          <p:cNvPr id="22" name="Text 20"/>
          <p:cNvSpPr txBox="1"/>
          <p:nvPr/>
        </p:nvSpPr>
        <p:spPr>
          <a:xfrm>
            <a:off x="9308592" y="2944368"/>
            <a:ext cx="2185416" cy="1005840"/>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Expiring, attempt-limited, single-use. A start code can never finish a job.</a:t>
            </a:r>
            <a:endParaRPr lang="en-US" sz="1200" dirty="0"/>
          </a:p>
        </p:txBody>
      </p:sp>
      <p:sp>
        <p:nvSpPr>
          <p:cNvPr id="23" name="card"/>
          <p:cNvSpPr/>
          <p:nvPr/>
        </p:nvSpPr>
        <p:spPr>
          <a:xfrm>
            <a:off x="566928" y="4370832"/>
            <a:ext cx="11027664" cy="914400"/>
          </a:xfrm>
          <a:prstGeom prst="roundRect">
            <a:avLst>
              <a:gd name="adj" fmla="val 10000"/>
            </a:avLst>
          </a:prstGeom>
          <a:solidFill>
            <a:srgbClr val="183C31"/>
          </a:solidFill>
          <a:ln w="12700">
            <a:solidFill>
              <a:srgbClr val="183C31"/>
            </a:solidFill>
            <a:prstDash val="solid"/>
          </a:ln>
        </p:spPr>
      </p:sp>
      <p:sp>
        <p:nvSpPr>
          <p:cNvPr id="24" name="Text 22"/>
          <p:cNvSpPr txBox="1"/>
          <p:nvPr/>
        </p:nvSpPr>
        <p:spPr>
          <a:xfrm>
            <a:off x="877824" y="4535424"/>
            <a:ext cx="10405872" cy="365760"/>
          </a:xfrm>
          <a:prstGeom prst="rect">
            <a:avLst/>
          </a:prstGeom>
          <a:noFill/>
          <a:ln/>
        </p:spPr>
        <p:txBody>
          <a:bodyPr wrap="square" lIns="0" tIns="0" rIns="0" bIns="0" rtlCol="0" anchor="ctr"/>
          <a:lstStyle/>
          <a:p>
            <a:pPr indent="0" marL="0">
              <a:buNone/>
            </a:pPr>
            <a:r>
              <a:rPr lang="en-US" sz="1700" b="1" dirty="0">
                <a:solidFill>
                  <a:srgbClr val="D6ED8D"/>
                </a:solidFill>
              </a:rPr>
              <a:t>Both sides are looking at the same nine steps, at the same moment.</a:t>
            </a:r>
            <a:endParaRPr lang="en-US" sz="1700" dirty="0"/>
          </a:p>
        </p:txBody>
      </p:sp>
      <p:sp>
        <p:nvSpPr>
          <p:cNvPr id="25" name="Text 23"/>
          <p:cNvSpPr txBox="1"/>
          <p:nvPr/>
        </p:nvSpPr>
        <p:spPr>
          <a:xfrm>
            <a:off x="877824" y="4846320"/>
            <a:ext cx="10405872" cy="457200"/>
          </a:xfrm>
          <a:prstGeom prst="rect">
            <a:avLst/>
          </a:prstGeom>
          <a:noFill/>
          <a:ln/>
        </p:spPr>
        <p:txBody>
          <a:bodyPr wrap="square" lIns="0" tIns="0" rIns="0" bIns="0" rtlCol="0" anchor="ctr"/>
          <a:lstStyle/>
          <a:p>
            <a:pPr indent="0" marL="0">
              <a:lnSpc>
                <a:spcPts val="1700"/>
              </a:lnSpc>
              <a:buNone/>
            </a:pPr>
            <a:r>
              <a:rPr lang="en-US" sz="1300" dirty="0">
                <a:solidFill>
                  <a:srgbClr val="C8D6CF"/>
                </a:solidFill>
              </a:rPr>
              <a:t>A dispute about whether the work started is not an argument at a doorway any more. It is a row in a register that neither party can rewrite.</a:t>
            </a:r>
            <a:endParaRPr lang="en-US" sz="1300" dirty="0"/>
          </a:p>
        </p:txBody>
      </p:sp>
      <p:sp>
        <p:nvSpPr>
          <p:cNvPr id="26"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27" name="Text 25"/>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WEEK 3  ·  TWO-SIDED START CODE  —  LIVE IN THE DEMO</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Week 3 — one bad rating arrives</a:t>
            </a:r>
            <a:endParaRPr lang="en-US" sz="3400" dirty="0"/>
          </a:p>
        </p:txBody>
      </p:sp>
      <p:sp>
        <p:nvSpPr>
          <p:cNvPr id="3" name="card"/>
          <p:cNvSpPr/>
          <p:nvPr/>
        </p:nvSpPr>
        <p:spPr>
          <a:xfrm>
            <a:off x="566928" y="1389888"/>
            <a:ext cx="5257800" cy="3017520"/>
          </a:xfrm>
          <a:prstGeom prst="roundRect">
            <a:avLst>
              <a:gd name="adj" fmla="val 3030"/>
            </a:avLst>
          </a:prstGeom>
          <a:solidFill>
            <a:srgbClr val="FBF0EE"/>
          </a:solidFill>
          <a:ln w="12700">
            <a:solidFill>
              <a:srgbClr val="E6CCC7"/>
            </a:solidFill>
            <a:prstDash val="solid"/>
          </a:ln>
        </p:spPr>
      </p:sp>
      <p:sp>
        <p:nvSpPr>
          <p:cNvPr id="4" name="eyebrow"/>
          <p:cNvSpPr txBox="1"/>
          <p:nvPr/>
        </p:nvSpPr>
        <p:spPr>
          <a:xfrm>
            <a:off x="841248" y="1645920"/>
            <a:ext cx="4663440" cy="237744"/>
          </a:xfrm>
          <a:prstGeom prst="rect">
            <a:avLst/>
          </a:prstGeom>
          <a:noFill/>
          <a:ln/>
        </p:spPr>
        <p:txBody>
          <a:bodyPr wrap="square" lIns="0" tIns="0" rIns="0" bIns="0" rtlCol="0" anchor="ctr"/>
          <a:lstStyle/>
          <a:p>
            <a:pPr indent="0" marL="0">
              <a:buNone/>
            </a:pPr>
            <a:r>
              <a:rPr lang="en-US" sz="1100" b="1" spc="200" kern="0" dirty="0">
                <a:solidFill>
                  <a:srgbClr val="9C382F"/>
                </a:solidFill>
              </a:rPr>
              <a:t>ON A RATING-RANKED PLATFORM</a:t>
            </a:r>
            <a:endParaRPr lang="en-US" sz="1100" dirty="0"/>
          </a:p>
        </p:txBody>
      </p:sp>
      <p:sp>
        <p:nvSpPr>
          <p:cNvPr id="5" name="Text 3"/>
          <p:cNvSpPr txBox="1"/>
          <p:nvPr/>
        </p:nvSpPr>
        <p:spPr>
          <a:xfrm>
            <a:off x="841248" y="1956816"/>
            <a:ext cx="4709160" cy="749808"/>
          </a:xfrm>
          <a:prstGeom prst="rect">
            <a:avLst/>
          </a:prstGeom>
          <a:noFill/>
          <a:ln/>
        </p:spPr>
        <p:txBody>
          <a:bodyPr wrap="square" lIns="0" tIns="0" rIns="0" bIns="0" rtlCol="0" anchor="ctr"/>
          <a:lstStyle/>
          <a:p>
            <a:pPr indent="0" marL="0">
              <a:lnSpc>
                <a:spcPts val="2700"/>
              </a:lnSpc>
              <a:buNone/>
            </a:pPr>
            <a:r>
              <a:rPr lang="en-US" sz="2100" b="1" dirty="0">
                <a:solidFill>
                  <a:srgbClr val="7D332A"/>
                </a:solidFill>
              </a:rPr>
              <a:t>The score dips. The work quietly dries up.</a:t>
            </a:r>
            <a:endParaRPr lang="en-US" sz="2100" dirty="0"/>
          </a:p>
        </p:txBody>
      </p:sp>
      <p:sp>
        <p:nvSpPr>
          <p:cNvPr id="6" name="Text 4"/>
          <p:cNvSpPr txBox="1"/>
          <p:nvPr/>
        </p:nvSpPr>
        <p:spPr>
          <a:xfrm>
            <a:off x="841248" y="2779776"/>
            <a:ext cx="4709160" cy="1097280"/>
          </a:xfrm>
          <a:prstGeom prst="rect">
            <a:avLst/>
          </a:prstGeom>
          <a:noFill/>
          <a:ln/>
        </p:spPr>
        <p:txBody>
          <a:bodyPr wrap="square" lIns="0" tIns="0" rIns="0" bIns="0" rtlCol="0" anchor="ctr"/>
          <a:lstStyle/>
          <a:p>
            <a:pPr indent="0" marL="0">
              <a:lnSpc>
                <a:spcPts val="1850"/>
              </a:lnSpc>
              <a:buNone/>
            </a:pPr>
            <a:r>
              <a:rPr lang="en-US" sz="1300" dirty="0">
                <a:solidFill>
                  <a:srgbClr val="6B4A45"/>
                </a:solidFill>
              </a:rPr>
              <a:t>Nobody tells him it happened. There is no notice, no hearing and no appeal, because nothing was formally decided — the ranking simply moved him down.</a:t>
            </a:r>
            <a:endParaRPr lang="en-US" sz="1300" dirty="0"/>
          </a:p>
        </p:txBody>
      </p:sp>
      <p:sp>
        <p:nvSpPr>
          <p:cNvPr id="7" name="card"/>
          <p:cNvSpPr/>
          <p:nvPr/>
        </p:nvSpPr>
        <p:spPr>
          <a:xfrm>
            <a:off x="6153912" y="1389888"/>
            <a:ext cx="5440680" cy="3017520"/>
          </a:xfrm>
          <a:prstGeom prst="roundRect">
            <a:avLst>
              <a:gd name="adj" fmla="val 3030"/>
            </a:avLst>
          </a:prstGeom>
          <a:solidFill>
            <a:srgbClr val="FFFFFF"/>
          </a:solidFill>
          <a:ln w="12700">
            <a:solidFill>
              <a:srgbClr val="BCD7C8"/>
            </a:solidFill>
            <a:prstDash val="solid"/>
          </a:ln>
        </p:spPr>
      </p:sp>
      <p:sp>
        <p:nvSpPr>
          <p:cNvPr id="8" name="eyebrow"/>
          <p:cNvSpPr txBox="1"/>
          <p:nvPr/>
        </p:nvSpPr>
        <p:spPr>
          <a:xfrm>
            <a:off x="6428232" y="1645920"/>
            <a:ext cx="4846320" cy="237744"/>
          </a:xfrm>
          <a:prstGeom prst="rect">
            <a:avLst/>
          </a:prstGeom>
          <a:noFill/>
          <a:ln/>
        </p:spPr>
        <p:txBody>
          <a:bodyPr wrap="square" lIns="0" tIns="0" rIns="0" bIns="0" rtlCol="0" anchor="ctr"/>
          <a:lstStyle/>
          <a:p>
            <a:pPr indent="0" marL="0">
              <a:buNone/>
            </a:pPr>
            <a:r>
              <a:rPr lang="en-US" sz="1100" b="1" spc="200" kern="0" dirty="0">
                <a:solidFill>
                  <a:srgbClr val="176B52"/>
                </a:solidFill>
              </a:rPr>
              <a:t>IN KAAMSABHA</a:t>
            </a:r>
            <a:endParaRPr lang="en-US" sz="1100" dirty="0"/>
          </a:p>
        </p:txBody>
      </p:sp>
      <p:sp>
        <p:nvSpPr>
          <p:cNvPr id="9" name="Text 7"/>
          <p:cNvSpPr txBox="1"/>
          <p:nvPr/>
        </p:nvSpPr>
        <p:spPr>
          <a:xfrm>
            <a:off x="6428232" y="1956816"/>
            <a:ext cx="4892040" cy="749808"/>
          </a:xfrm>
          <a:prstGeom prst="rect">
            <a:avLst/>
          </a:prstGeom>
          <a:noFill/>
          <a:ln/>
        </p:spPr>
        <p:txBody>
          <a:bodyPr wrap="square" lIns="0" tIns="0" rIns="0" bIns="0" rtlCol="0" anchor="ctr"/>
          <a:lstStyle/>
          <a:p>
            <a:pPr indent="0" marL="0">
              <a:lnSpc>
                <a:spcPts val="2700"/>
              </a:lnSpc>
              <a:buNone/>
            </a:pPr>
            <a:r>
              <a:rPr lang="en-US" sz="2100" b="1" dirty="0">
                <a:solidFill>
                  <a:srgbClr val="173D31"/>
                </a:solidFill>
              </a:rPr>
              <a:t>A one-star opens a human review.</a:t>
            </a:r>
            <a:endParaRPr lang="en-US" sz="2100" dirty="0"/>
          </a:p>
        </p:txBody>
      </p:sp>
      <p:sp>
        <p:nvSpPr>
          <p:cNvPr id="10" name="Text 8"/>
          <p:cNvSpPr txBox="1"/>
          <p:nvPr/>
        </p:nvSpPr>
        <p:spPr>
          <a:xfrm>
            <a:off x="6428232" y="2779776"/>
            <a:ext cx="4892040" cy="1280160"/>
          </a:xfrm>
          <a:prstGeom prst="rect">
            <a:avLst/>
          </a:prstGeom>
          <a:noFill/>
          <a:ln/>
        </p:spPr>
        <p:txBody>
          <a:bodyPr wrap="square" lIns="0" tIns="0" rIns="0" bIns="0" rtlCol="0" anchor="ctr"/>
          <a:lstStyle/>
          <a:p>
            <a:pPr indent="0" marL="0">
              <a:lnSpc>
                <a:spcPts val="1850"/>
              </a:lnSpc>
              <a:buNone/>
            </a:pPr>
            <a:r>
              <a:rPr lang="en-US" sz="1300" dirty="0">
                <a:solidFill>
                  <a:srgbClr val="5A6660"/>
                </a:solidFill>
              </a:rPr>
              <a:t>His access does not change while that review runs, and the Worker Protection Floor means his payout cannot be cut underneath it. A rating is evidence for a person to weigh — never an automatic sentence.</a:t>
            </a:r>
            <a:endParaRPr lang="en-US" sz="1300" dirty="0"/>
          </a:p>
        </p:txBody>
      </p:sp>
      <p:sp>
        <p:nvSpPr>
          <p:cNvPr id="11" name="card"/>
          <p:cNvSpPr/>
          <p:nvPr/>
        </p:nvSpPr>
        <p:spPr>
          <a:xfrm>
            <a:off x="566928" y="4572000"/>
            <a:ext cx="11027664" cy="749808"/>
          </a:xfrm>
          <a:prstGeom prst="roundRect">
            <a:avLst>
              <a:gd name="adj" fmla="val 12195"/>
            </a:avLst>
          </a:prstGeom>
          <a:solidFill>
            <a:srgbClr val="183C31"/>
          </a:solidFill>
          <a:ln w="12700">
            <a:solidFill>
              <a:srgbClr val="183C31"/>
            </a:solidFill>
            <a:prstDash val="solid"/>
          </a:ln>
        </p:spPr>
      </p:sp>
      <p:sp>
        <p:nvSpPr>
          <p:cNvPr id="12" name="Text 10"/>
          <p:cNvSpPr txBox="1"/>
          <p:nvPr/>
        </p:nvSpPr>
        <p:spPr>
          <a:xfrm>
            <a:off x="859536" y="4572000"/>
            <a:ext cx="10442448" cy="749808"/>
          </a:xfrm>
          <a:prstGeom prst="rect">
            <a:avLst/>
          </a:prstGeom>
          <a:noFill/>
          <a:ln/>
        </p:spPr>
        <p:txBody>
          <a:bodyPr wrap="square" lIns="0" tIns="0" rIns="0" bIns="0" rtlCol="0" anchor="ctr"/>
          <a:lstStyle/>
          <a:p>
            <a:pPr indent="0" marL="0">
              <a:buNone/>
            </a:pPr>
            <a:r>
              <a:rPr lang="en-US" sz="1400" b="1" dirty="0">
                <a:solidFill>
                  <a:srgbClr val="D6ED8D"/>
                </a:solidFill>
              </a:rPr>
              <a:t>Karnataka's Act, 2025: no deactivation without written reasons, 14 days' notice, natural justice and an appeal. The Rating Firewall is that clause, in code.</a:t>
            </a:r>
            <a:endParaRPr lang="en-US" sz="1400" dirty="0"/>
          </a:p>
        </p:txBody>
      </p:sp>
      <p:sp>
        <p:nvSpPr>
          <p:cNvPr id="13"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14" name="Text 12"/>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WEEK 3  ·  RATING FIREWALL  ·  KARNATAKA ACT 72 OF 2025</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Week 4 — “while you're here, one more switch”</a:t>
            </a:r>
            <a:endParaRPr lang="en-US" sz="3400" dirty="0"/>
          </a:p>
        </p:txBody>
      </p:sp>
      <p:sp>
        <p:nvSpPr>
          <p:cNvPr id="3" name="card"/>
          <p:cNvSpPr/>
          <p:nvPr/>
        </p:nvSpPr>
        <p:spPr>
          <a:xfrm>
            <a:off x="566928" y="1389888"/>
            <a:ext cx="11027664" cy="1051560"/>
          </a:xfrm>
          <a:prstGeom prst="roundRect">
            <a:avLst>
              <a:gd name="adj" fmla="val 8696"/>
            </a:avLst>
          </a:prstGeom>
          <a:solidFill>
            <a:srgbClr val="FFFFFF"/>
          </a:solidFill>
          <a:ln w="12700">
            <a:solidFill>
              <a:srgbClr val="DCE2DD"/>
            </a:solidFill>
            <a:prstDash val="solid"/>
          </a:ln>
        </p:spPr>
      </p:sp>
      <p:sp>
        <p:nvSpPr>
          <p:cNvPr id="4" name="Text 2"/>
          <p:cNvSpPr txBox="1"/>
          <p:nvPr/>
        </p:nvSpPr>
        <p:spPr>
          <a:xfrm>
            <a:off x="932688" y="1389888"/>
            <a:ext cx="10296144" cy="1051560"/>
          </a:xfrm>
          <a:prstGeom prst="rect">
            <a:avLst/>
          </a:prstGeom>
          <a:noFill/>
          <a:ln/>
        </p:spPr>
        <p:txBody>
          <a:bodyPr wrap="square" lIns="0" tIns="0" rIns="0" bIns="0" rtlCol="0" anchor="ctr"/>
          <a:lstStyle/>
          <a:p>
            <a:pPr indent="0" marL="0">
              <a:lnSpc>
                <a:spcPts val="2400"/>
              </a:lnSpc>
              <a:buNone/>
            </a:pPr>
            <a:r>
              <a:rPr lang="en-US" sz="1600" dirty="0">
                <a:solidFill>
                  <a:srgbClr val="3F4B45"/>
                </a:solidFill>
              </a:rPr>
              <a:t>This is the moment every tradesperson loses money. He is in her house, the job is half done, and she is asking for more. Saying no costs him the rating. Saying yes costs him the hour.</a:t>
            </a:r>
            <a:endParaRPr lang="en-US" sz="1600" dirty="0"/>
          </a:p>
        </p:txBody>
      </p:sp>
      <p:sp>
        <p:nvSpPr>
          <p:cNvPr id="5" name="card"/>
          <p:cNvSpPr/>
          <p:nvPr/>
        </p:nvSpPr>
        <p:spPr>
          <a:xfrm>
            <a:off x="566928" y="2670048"/>
            <a:ext cx="3456432" cy="2011680"/>
          </a:xfrm>
          <a:prstGeom prst="roundRect">
            <a:avLst>
              <a:gd name="adj" fmla="val 4545"/>
            </a:avLst>
          </a:prstGeom>
          <a:solidFill>
            <a:srgbClr val="FFFFFF"/>
          </a:solidFill>
          <a:ln w="12700">
            <a:solidFill>
              <a:srgbClr val="DCE2DD"/>
            </a:solidFill>
            <a:prstDash val="solid"/>
          </a:ln>
        </p:spPr>
      </p:sp>
      <p:sp>
        <p:nvSpPr>
          <p:cNvPr id="6" name="badge"/>
          <p:cNvSpPr/>
          <p:nvPr/>
        </p:nvSpPr>
        <p:spPr>
          <a:xfrm>
            <a:off x="841248" y="2926080"/>
            <a:ext cx="438912" cy="438912"/>
          </a:xfrm>
          <a:prstGeom prst="ellipse">
            <a:avLst/>
          </a:prstGeom>
          <a:solidFill>
            <a:srgbClr val="183C31"/>
          </a:solidFill>
          <a:ln w="12700">
            <a:solidFill>
              <a:srgbClr val="183C31"/>
            </a:solidFill>
            <a:prstDash val="solid"/>
          </a:ln>
        </p:spPr>
      </p:sp>
      <p:sp>
        <p:nvSpPr>
          <p:cNvPr id="7" name="Text 5"/>
          <p:cNvSpPr txBox="1"/>
          <p:nvPr/>
        </p:nvSpPr>
        <p:spPr>
          <a:xfrm>
            <a:off x="841248" y="2926080"/>
            <a:ext cx="438912" cy="438912"/>
          </a:xfrm>
          <a:prstGeom prst="rect">
            <a:avLst/>
          </a:prstGeom>
          <a:noFill/>
          <a:ln/>
        </p:spPr>
        <p:txBody>
          <a:bodyPr wrap="square" lIns="0" tIns="0" rIns="0" bIns="0" rtlCol="0" anchor="ctr"/>
          <a:lstStyle/>
          <a:p>
            <a:pPr algn="ctr" indent="0" marL="0">
              <a:buNone/>
            </a:pPr>
            <a:r>
              <a:rPr lang="en-US" sz="1400" b="1" dirty="0">
                <a:solidFill>
                  <a:srgbClr val="D6ED8D"/>
                </a:solidFill>
              </a:rPr>
              <a:t>1</a:t>
            </a:r>
            <a:endParaRPr lang="en-US" sz="1400" dirty="0"/>
          </a:p>
        </p:txBody>
      </p:sp>
      <p:sp>
        <p:nvSpPr>
          <p:cNvPr id="8" name="Text 6"/>
          <p:cNvSpPr txBox="1"/>
          <p:nvPr/>
        </p:nvSpPr>
        <p:spPr>
          <a:xfrm>
            <a:off x="841248" y="3493008"/>
            <a:ext cx="2907792" cy="548640"/>
          </a:xfrm>
          <a:prstGeom prst="rect">
            <a:avLst/>
          </a:prstGeom>
          <a:noFill/>
          <a:ln/>
        </p:spPr>
        <p:txBody>
          <a:bodyPr wrap="square" lIns="0" tIns="0" rIns="0" bIns="0" rtlCol="0" anchor="ctr"/>
          <a:lstStyle/>
          <a:p>
            <a:pPr indent="0" marL="0">
              <a:lnSpc>
                <a:spcPts val="1900"/>
              </a:lnSpc>
              <a:buNone/>
            </a:pPr>
            <a:r>
              <a:rPr lang="en-US" sz="1450" b="1" dirty="0">
                <a:solidFill>
                  <a:srgbClr val="173D31"/>
                </a:solidFill>
              </a:rPr>
              <a:t>Ramesh sends it for approval</a:t>
            </a:r>
            <a:endParaRPr lang="en-US" sz="1450" dirty="0"/>
          </a:p>
        </p:txBody>
      </p:sp>
      <p:sp>
        <p:nvSpPr>
          <p:cNvPr id="9" name="Text 7"/>
          <p:cNvSpPr txBox="1"/>
          <p:nvPr/>
        </p:nvSpPr>
        <p:spPr>
          <a:xfrm>
            <a:off x="841248" y="4059936"/>
            <a:ext cx="2907792" cy="548640"/>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Not a conversation at a doorway — a change order with an amount attached.</a:t>
            </a:r>
            <a:endParaRPr lang="en-US" sz="1200" dirty="0"/>
          </a:p>
        </p:txBody>
      </p:sp>
      <p:sp>
        <p:nvSpPr>
          <p:cNvPr id="10" name="card"/>
          <p:cNvSpPr/>
          <p:nvPr/>
        </p:nvSpPr>
        <p:spPr>
          <a:xfrm>
            <a:off x="4352544" y="2670048"/>
            <a:ext cx="3456432" cy="2011680"/>
          </a:xfrm>
          <a:prstGeom prst="roundRect">
            <a:avLst>
              <a:gd name="adj" fmla="val 4545"/>
            </a:avLst>
          </a:prstGeom>
          <a:solidFill>
            <a:srgbClr val="FFFFFF"/>
          </a:solidFill>
          <a:ln w="12700">
            <a:solidFill>
              <a:srgbClr val="DCE2DD"/>
            </a:solidFill>
            <a:prstDash val="solid"/>
          </a:ln>
        </p:spPr>
      </p:sp>
      <p:sp>
        <p:nvSpPr>
          <p:cNvPr id="11" name="badge"/>
          <p:cNvSpPr/>
          <p:nvPr/>
        </p:nvSpPr>
        <p:spPr>
          <a:xfrm>
            <a:off x="4626864" y="2926080"/>
            <a:ext cx="438912" cy="438912"/>
          </a:xfrm>
          <a:prstGeom prst="ellipse">
            <a:avLst/>
          </a:prstGeom>
          <a:solidFill>
            <a:srgbClr val="183C31"/>
          </a:solidFill>
          <a:ln w="12700">
            <a:solidFill>
              <a:srgbClr val="183C31"/>
            </a:solidFill>
            <a:prstDash val="solid"/>
          </a:ln>
        </p:spPr>
      </p:sp>
      <p:sp>
        <p:nvSpPr>
          <p:cNvPr id="12" name="Text 10"/>
          <p:cNvSpPr txBox="1"/>
          <p:nvPr/>
        </p:nvSpPr>
        <p:spPr>
          <a:xfrm>
            <a:off x="4626864" y="2926080"/>
            <a:ext cx="438912" cy="438912"/>
          </a:xfrm>
          <a:prstGeom prst="rect">
            <a:avLst/>
          </a:prstGeom>
          <a:noFill/>
          <a:ln/>
        </p:spPr>
        <p:txBody>
          <a:bodyPr wrap="square" lIns="0" tIns="0" rIns="0" bIns="0" rtlCol="0" anchor="ctr"/>
          <a:lstStyle/>
          <a:p>
            <a:pPr algn="ctr" indent="0" marL="0">
              <a:buNone/>
            </a:pPr>
            <a:r>
              <a:rPr lang="en-US" sz="1400" b="1" dirty="0">
                <a:solidFill>
                  <a:srgbClr val="D6ED8D"/>
                </a:solidFill>
              </a:rPr>
              <a:t>2</a:t>
            </a:r>
            <a:endParaRPr lang="en-US" sz="1400" dirty="0"/>
          </a:p>
        </p:txBody>
      </p:sp>
      <p:sp>
        <p:nvSpPr>
          <p:cNvPr id="13" name="Text 11"/>
          <p:cNvSpPr txBox="1"/>
          <p:nvPr/>
        </p:nvSpPr>
        <p:spPr>
          <a:xfrm>
            <a:off x="4626864" y="3493008"/>
            <a:ext cx="2907792" cy="548640"/>
          </a:xfrm>
          <a:prstGeom prst="rect">
            <a:avLst/>
          </a:prstGeom>
          <a:noFill/>
          <a:ln/>
        </p:spPr>
        <p:txBody>
          <a:bodyPr wrap="square" lIns="0" tIns="0" rIns="0" bIns="0" rtlCol="0" anchor="ctr"/>
          <a:lstStyle/>
          <a:p>
            <a:pPr indent="0" marL="0">
              <a:lnSpc>
                <a:spcPts val="1900"/>
              </a:lnSpc>
              <a:buNone/>
            </a:pPr>
            <a:r>
              <a:rPr lang="en-US" sz="1450" b="1" dirty="0">
                <a:solidFill>
                  <a:srgbClr val="173D31"/>
                </a:solidFill>
              </a:rPr>
              <a:t>He cannot start until she agrees</a:t>
            </a:r>
            <a:endParaRPr lang="en-US" sz="1450" dirty="0"/>
          </a:p>
        </p:txBody>
      </p:sp>
      <p:sp>
        <p:nvSpPr>
          <p:cNvPr id="14" name="Text 12"/>
          <p:cNvSpPr txBox="1"/>
          <p:nvPr/>
        </p:nvSpPr>
        <p:spPr>
          <a:xfrm>
            <a:off x="4626864" y="4059936"/>
            <a:ext cx="2907792" cy="548640"/>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The app will not let him. The protection runs in both directions.</a:t>
            </a:r>
            <a:endParaRPr lang="en-US" sz="1200" dirty="0"/>
          </a:p>
        </p:txBody>
      </p:sp>
      <p:sp>
        <p:nvSpPr>
          <p:cNvPr id="15" name="card"/>
          <p:cNvSpPr/>
          <p:nvPr/>
        </p:nvSpPr>
        <p:spPr>
          <a:xfrm>
            <a:off x="8138160" y="2670048"/>
            <a:ext cx="3456432" cy="2011680"/>
          </a:xfrm>
          <a:prstGeom prst="roundRect">
            <a:avLst>
              <a:gd name="adj" fmla="val 4545"/>
            </a:avLst>
          </a:prstGeom>
          <a:solidFill>
            <a:srgbClr val="FFFFFF"/>
          </a:solidFill>
          <a:ln w="12700">
            <a:solidFill>
              <a:srgbClr val="DCE2DD"/>
            </a:solidFill>
            <a:prstDash val="solid"/>
          </a:ln>
        </p:spPr>
      </p:sp>
      <p:sp>
        <p:nvSpPr>
          <p:cNvPr id="16" name="badge"/>
          <p:cNvSpPr/>
          <p:nvPr/>
        </p:nvSpPr>
        <p:spPr>
          <a:xfrm>
            <a:off x="8412480" y="2926080"/>
            <a:ext cx="438912" cy="438912"/>
          </a:xfrm>
          <a:prstGeom prst="ellipse">
            <a:avLst/>
          </a:prstGeom>
          <a:solidFill>
            <a:srgbClr val="183C31"/>
          </a:solidFill>
          <a:ln w="12700">
            <a:solidFill>
              <a:srgbClr val="183C31"/>
            </a:solidFill>
            <a:prstDash val="solid"/>
          </a:ln>
        </p:spPr>
      </p:sp>
      <p:sp>
        <p:nvSpPr>
          <p:cNvPr id="17" name="Text 15"/>
          <p:cNvSpPr txBox="1"/>
          <p:nvPr/>
        </p:nvSpPr>
        <p:spPr>
          <a:xfrm>
            <a:off x="8412480" y="2926080"/>
            <a:ext cx="438912" cy="438912"/>
          </a:xfrm>
          <a:prstGeom prst="rect">
            <a:avLst/>
          </a:prstGeom>
          <a:noFill/>
          <a:ln/>
        </p:spPr>
        <p:txBody>
          <a:bodyPr wrap="square" lIns="0" tIns="0" rIns="0" bIns="0" rtlCol="0" anchor="ctr"/>
          <a:lstStyle/>
          <a:p>
            <a:pPr algn="ctr" indent="0" marL="0">
              <a:buNone/>
            </a:pPr>
            <a:r>
              <a:rPr lang="en-US" sz="1400" b="1" dirty="0">
                <a:solidFill>
                  <a:srgbClr val="D6ED8D"/>
                </a:solidFill>
              </a:rPr>
              <a:t>3</a:t>
            </a:r>
            <a:endParaRPr lang="en-US" sz="1400" dirty="0"/>
          </a:p>
        </p:txBody>
      </p:sp>
      <p:sp>
        <p:nvSpPr>
          <p:cNvPr id="18" name="Text 16"/>
          <p:cNvSpPr txBox="1"/>
          <p:nvPr/>
        </p:nvSpPr>
        <p:spPr>
          <a:xfrm>
            <a:off x="8412480" y="3493008"/>
            <a:ext cx="2907792" cy="548640"/>
          </a:xfrm>
          <a:prstGeom prst="rect">
            <a:avLst/>
          </a:prstGeom>
          <a:noFill/>
          <a:ln/>
        </p:spPr>
        <p:txBody>
          <a:bodyPr wrap="square" lIns="0" tIns="0" rIns="0" bIns="0" rtlCol="0" anchor="ctr"/>
          <a:lstStyle/>
          <a:p>
            <a:pPr indent="0" marL="0">
              <a:lnSpc>
                <a:spcPts val="1900"/>
              </a:lnSpc>
              <a:buNone/>
            </a:pPr>
            <a:r>
              <a:rPr lang="en-US" sz="1450" b="1" dirty="0">
                <a:solidFill>
                  <a:srgbClr val="173D31"/>
                </a:solidFill>
              </a:rPr>
              <a:t>She is never surprised by the bill</a:t>
            </a:r>
            <a:endParaRPr lang="en-US" sz="1450" dirty="0"/>
          </a:p>
        </p:txBody>
      </p:sp>
      <p:sp>
        <p:nvSpPr>
          <p:cNvPr id="19" name="Text 17"/>
          <p:cNvSpPr txBox="1"/>
          <p:nvPr/>
        </p:nvSpPr>
        <p:spPr>
          <a:xfrm>
            <a:off x="8412480" y="4059936"/>
            <a:ext cx="2907792" cy="548640"/>
          </a:xfrm>
          <a:prstGeom prst="rect">
            <a:avLst/>
          </a:prstGeom>
          <a:noFill/>
          <a:ln/>
        </p:spPr>
        <p:txBody>
          <a:bodyPr wrap="square" lIns="0" tIns="0" rIns="0" bIns="0" rtlCol="0" anchor="ctr"/>
          <a:lstStyle/>
          <a:p>
            <a:pPr indent="0" marL="0">
              <a:lnSpc>
                <a:spcPts val="1650"/>
              </a:lnSpc>
              <a:buNone/>
            </a:pPr>
            <a:r>
              <a:rPr lang="en-US" sz="1200" dirty="0">
                <a:solidFill>
                  <a:srgbClr val="5A6660"/>
                </a:solidFill>
              </a:rPr>
              <a:t>Which is why this is a customer feature as much as a worker one.</a:t>
            </a:r>
            <a:endParaRPr lang="en-US" sz="1200" dirty="0"/>
          </a:p>
        </p:txBody>
      </p:sp>
      <p:sp>
        <p:nvSpPr>
          <p:cNvPr id="20" name="card"/>
          <p:cNvSpPr/>
          <p:nvPr/>
        </p:nvSpPr>
        <p:spPr>
          <a:xfrm>
            <a:off x="566928" y="4828032"/>
            <a:ext cx="11027664" cy="475488"/>
          </a:xfrm>
          <a:prstGeom prst="roundRect">
            <a:avLst>
              <a:gd name="adj" fmla="val 19231"/>
            </a:avLst>
          </a:prstGeom>
          <a:solidFill>
            <a:srgbClr val="D6ED8D"/>
          </a:solidFill>
          <a:ln w="12700">
            <a:solidFill>
              <a:srgbClr val="D6ED8D"/>
            </a:solidFill>
            <a:prstDash val="solid"/>
          </a:ln>
        </p:spPr>
      </p:sp>
      <p:sp>
        <p:nvSpPr>
          <p:cNvPr id="21" name="Text 19"/>
          <p:cNvSpPr txBox="1"/>
          <p:nvPr/>
        </p:nvSpPr>
        <p:spPr>
          <a:xfrm>
            <a:off x="841248" y="4828032"/>
            <a:ext cx="10479024" cy="475488"/>
          </a:xfrm>
          <a:prstGeom prst="rect">
            <a:avLst/>
          </a:prstGeom>
          <a:noFill/>
          <a:ln/>
        </p:spPr>
        <p:txBody>
          <a:bodyPr wrap="square" lIns="0" tIns="0" rIns="0" bIns="0" rtlCol="0" anchor="ctr"/>
          <a:lstStyle/>
          <a:p>
            <a:pPr indent="0" marL="0">
              <a:buNone/>
            </a:pPr>
            <a:r>
              <a:rPr lang="en-US" sz="1350" b="1" dirty="0">
                <a:solidFill>
                  <a:srgbClr val="173D31"/>
                </a:solidFill>
              </a:rPr>
              <a:t>Scope Lock protects the weaker party at the exact moment they are weakest.</a:t>
            </a:r>
            <a:endParaRPr lang="en-US" sz="1350" dirty="0"/>
          </a:p>
        </p:txBody>
      </p:sp>
      <p:sp>
        <p:nvSpPr>
          <p:cNvPr id="22"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23" name="Text 21"/>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WEEK 4  ·  SCOPE LOCK</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rgbClr val="FFFFFF"/>
                </a:solidFill>
              </a:rPr>
              <a:t>Month end — Ramesh votes on the rule itself</a:t>
            </a:r>
            <a:endParaRPr lang="en-US" sz="3400" dirty="0"/>
          </a:p>
        </p:txBody>
      </p:sp>
      <p:sp>
        <p:nvSpPr>
          <p:cNvPr id="3" name="card"/>
          <p:cNvSpPr/>
          <p:nvPr/>
        </p:nvSpPr>
        <p:spPr>
          <a:xfrm>
            <a:off x="566928" y="1481328"/>
            <a:ext cx="3456432" cy="2926080"/>
          </a:xfrm>
          <a:prstGeom prst="roundRect">
            <a:avLst>
              <a:gd name="adj" fmla="val 3125"/>
            </a:avLst>
          </a:prstGeom>
          <a:solidFill>
            <a:srgbClr val="1F4A3C"/>
          </a:solidFill>
          <a:ln w="12700">
            <a:solidFill>
              <a:srgbClr val="2E5C4C"/>
            </a:solidFill>
            <a:prstDash val="solid"/>
          </a:ln>
        </p:spPr>
      </p:sp>
      <p:sp>
        <p:nvSpPr>
          <p:cNvPr id="4" name="badge"/>
          <p:cNvSpPr/>
          <p:nvPr/>
        </p:nvSpPr>
        <p:spPr>
          <a:xfrm>
            <a:off x="841248" y="1737360"/>
            <a:ext cx="457200" cy="457200"/>
          </a:xfrm>
          <a:prstGeom prst="ellipse">
            <a:avLst/>
          </a:prstGeom>
          <a:solidFill>
            <a:srgbClr val="D6ED8D"/>
          </a:solidFill>
          <a:ln w="12700">
            <a:solidFill>
              <a:srgbClr val="D6ED8D"/>
            </a:solidFill>
            <a:prstDash val="solid"/>
          </a:ln>
        </p:spPr>
      </p:sp>
      <p:sp>
        <p:nvSpPr>
          <p:cNvPr id="5" name="Text 3"/>
          <p:cNvSpPr txBox="1"/>
          <p:nvPr/>
        </p:nvSpPr>
        <p:spPr>
          <a:xfrm>
            <a:off x="841248" y="1737360"/>
            <a:ext cx="457200" cy="457200"/>
          </a:xfrm>
          <a:prstGeom prst="rect">
            <a:avLst/>
          </a:prstGeom>
          <a:noFill/>
          <a:ln/>
        </p:spPr>
        <p:txBody>
          <a:bodyPr wrap="square" lIns="0" tIns="0" rIns="0" bIns="0" rtlCol="0" anchor="ctr"/>
          <a:lstStyle/>
          <a:p>
            <a:pPr algn="ctr" indent="0" marL="0">
              <a:buNone/>
            </a:pPr>
            <a:r>
              <a:rPr lang="en-US" sz="1400" b="1" dirty="0">
                <a:solidFill>
                  <a:srgbClr val="173D31"/>
                </a:solidFill>
              </a:rPr>
              <a:t>1</a:t>
            </a:r>
            <a:endParaRPr lang="en-US" sz="1400" dirty="0"/>
          </a:p>
        </p:txBody>
      </p:sp>
      <p:sp>
        <p:nvSpPr>
          <p:cNvPr id="6" name="Text 4"/>
          <p:cNvSpPr txBox="1"/>
          <p:nvPr/>
        </p:nvSpPr>
        <p:spPr>
          <a:xfrm>
            <a:off x="841248" y="2304288"/>
            <a:ext cx="2907792" cy="54864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rPr>
              <a:t>One member, one vote</a:t>
            </a:r>
            <a:endParaRPr lang="en-US" sz="1550" dirty="0"/>
          </a:p>
        </p:txBody>
      </p:sp>
      <p:sp>
        <p:nvSpPr>
          <p:cNvPr id="7" name="Text 5"/>
          <p:cNvSpPr txBox="1"/>
          <p:nvPr/>
        </p:nvSpPr>
        <p:spPr>
          <a:xfrm>
            <a:off x="841248" y="2907792"/>
            <a:ext cx="2907792" cy="1325880"/>
          </a:xfrm>
          <a:prstGeom prst="rect">
            <a:avLst/>
          </a:prstGeom>
          <a:noFill/>
          <a:ln/>
        </p:spPr>
        <p:txBody>
          <a:bodyPr wrap="square" lIns="0" tIns="0" rIns="0" bIns="0" rtlCol="0" anchor="ctr"/>
          <a:lstStyle/>
          <a:p>
            <a:pPr indent="0" marL="0">
              <a:lnSpc>
                <a:spcPts val="1650"/>
              </a:lnSpc>
              <a:buNone/>
            </a:pPr>
            <a:r>
              <a:rPr lang="en-US" sz="1200" dirty="0">
                <a:solidFill>
                  <a:srgbClr val="A9C0B6"/>
                </a:solidFill>
              </a:rPr>
              <a:t>Not one share, one vote. Ramesh counts exactly as much as the busiest member in the cooperative.</a:t>
            </a:r>
            <a:endParaRPr lang="en-US" sz="1200" dirty="0"/>
          </a:p>
        </p:txBody>
      </p:sp>
      <p:sp>
        <p:nvSpPr>
          <p:cNvPr id="8" name="card"/>
          <p:cNvSpPr/>
          <p:nvPr/>
        </p:nvSpPr>
        <p:spPr>
          <a:xfrm>
            <a:off x="4352544" y="1481328"/>
            <a:ext cx="3456432" cy="2926080"/>
          </a:xfrm>
          <a:prstGeom prst="roundRect">
            <a:avLst>
              <a:gd name="adj" fmla="val 3125"/>
            </a:avLst>
          </a:prstGeom>
          <a:solidFill>
            <a:srgbClr val="1F4A3C"/>
          </a:solidFill>
          <a:ln w="12700">
            <a:solidFill>
              <a:srgbClr val="2E5C4C"/>
            </a:solidFill>
            <a:prstDash val="solid"/>
          </a:ln>
        </p:spPr>
      </p:sp>
      <p:sp>
        <p:nvSpPr>
          <p:cNvPr id="9" name="badge"/>
          <p:cNvSpPr/>
          <p:nvPr/>
        </p:nvSpPr>
        <p:spPr>
          <a:xfrm>
            <a:off x="4626864" y="1737360"/>
            <a:ext cx="457200" cy="457200"/>
          </a:xfrm>
          <a:prstGeom prst="ellipse">
            <a:avLst/>
          </a:prstGeom>
          <a:solidFill>
            <a:srgbClr val="D6ED8D"/>
          </a:solidFill>
          <a:ln w="12700">
            <a:solidFill>
              <a:srgbClr val="D6ED8D"/>
            </a:solidFill>
            <a:prstDash val="solid"/>
          </a:ln>
        </p:spPr>
      </p:sp>
      <p:sp>
        <p:nvSpPr>
          <p:cNvPr id="10" name="Text 8"/>
          <p:cNvSpPr txBox="1"/>
          <p:nvPr/>
        </p:nvSpPr>
        <p:spPr>
          <a:xfrm>
            <a:off x="4626864" y="1737360"/>
            <a:ext cx="457200" cy="457200"/>
          </a:xfrm>
          <a:prstGeom prst="rect">
            <a:avLst/>
          </a:prstGeom>
          <a:noFill/>
          <a:ln/>
        </p:spPr>
        <p:txBody>
          <a:bodyPr wrap="square" lIns="0" tIns="0" rIns="0" bIns="0" rtlCol="0" anchor="ctr"/>
          <a:lstStyle/>
          <a:p>
            <a:pPr algn="ctr" indent="0" marL="0">
              <a:buNone/>
            </a:pPr>
            <a:r>
              <a:rPr lang="en-US" sz="1400" b="1" dirty="0">
                <a:solidFill>
                  <a:srgbClr val="173D31"/>
                </a:solidFill>
              </a:rPr>
              <a:t>2</a:t>
            </a:r>
            <a:endParaRPr lang="en-US" sz="1400" dirty="0"/>
          </a:p>
        </p:txBody>
      </p:sp>
      <p:sp>
        <p:nvSpPr>
          <p:cNvPr id="11" name="Text 9"/>
          <p:cNvSpPr txBox="1"/>
          <p:nvPr/>
        </p:nvSpPr>
        <p:spPr>
          <a:xfrm>
            <a:off x="4626864" y="2304288"/>
            <a:ext cx="2907792" cy="54864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rPr>
              <a:t>Simulated before the ballot</a:t>
            </a:r>
            <a:endParaRPr lang="en-US" sz="1550" dirty="0"/>
          </a:p>
        </p:txBody>
      </p:sp>
      <p:sp>
        <p:nvSpPr>
          <p:cNvPr id="12" name="Text 10"/>
          <p:cNvSpPr txBox="1"/>
          <p:nvPr/>
        </p:nvSpPr>
        <p:spPr>
          <a:xfrm>
            <a:off x="4626864" y="2907792"/>
            <a:ext cx="2907792" cy="1325880"/>
          </a:xfrm>
          <a:prstGeom prst="rect">
            <a:avLst/>
          </a:prstGeom>
          <a:noFill/>
          <a:ln/>
        </p:spPr>
        <p:txBody>
          <a:bodyPr wrap="square" lIns="0" tIns="0" rIns="0" bIns="0" rtlCol="0" anchor="ctr"/>
          <a:lstStyle/>
          <a:p>
            <a:pPr indent="0" marL="0">
              <a:lnSpc>
                <a:spcPts val="1650"/>
              </a:lnSpc>
              <a:buNone/>
            </a:pPr>
            <a:r>
              <a:rPr lang="en-US" sz="1200" dirty="0">
                <a:solidFill>
                  <a:srgbClr val="A9C0B6"/>
                </a:solidFill>
              </a:rPr>
              <a:t>The Policy Twin runs the proposed rule against the real register first, so members see who loses work before they vote — not after.</a:t>
            </a:r>
            <a:endParaRPr lang="en-US" sz="1200" dirty="0"/>
          </a:p>
        </p:txBody>
      </p:sp>
      <p:sp>
        <p:nvSpPr>
          <p:cNvPr id="13" name="card"/>
          <p:cNvSpPr/>
          <p:nvPr/>
        </p:nvSpPr>
        <p:spPr>
          <a:xfrm>
            <a:off x="8138160" y="1481328"/>
            <a:ext cx="3456432" cy="2926080"/>
          </a:xfrm>
          <a:prstGeom prst="roundRect">
            <a:avLst>
              <a:gd name="adj" fmla="val 3125"/>
            </a:avLst>
          </a:prstGeom>
          <a:solidFill>
            <a:srgbClr val="1F4A3C"/>
          </a:solidFill>
          <a:ln w="12700">
            <a:solidFill>
              <a:srgbClr val="2E5C4C"/>
            </a:solidFill>
            <a:prstDash val="solid"/>
          </a:ln>
        </p:spPr>
      </p:sp>
      <p:sp>
        <p:nvSpPr>
          <p:cNvPr id="14" name="badge"/>
          <p:cNvSpPr/>
          <p:nvPr/>
        </p:nvSpPr>
        <p:spPr>
          <a:xfrm>
            <a:off x="8412480" y="1737360"/>
            <a:ext cx="457200" cy="457200"/>
          </a:xfrm>
          <a:prstGeom prst="ellipse">
            <a:avLst/>
          </a:prstGeom>
          <a:solidFill>
            <a:srgbClr val="D6ED8D"/>
          </a:solidFill>
          <a:ln w="12700">
            <a:solidFill>
              <a:srgbClr val="D6ED8D"/>
            </a:solidFill>
            <a:prstDash val="solid"/>
          </a:ln>
        </p:spPr>
      </p:sp>
      <p:sp>
        <p:nvSpPr>
          <p:cNvPr id="15" name="Text 13"/>
          <p:cNvSpPr txBox="1"/>
          <p:nvPr/>
        </p:nvSpPr>
        <p:spPr>
          <a:xfrm>
            <a:off x="8412480" y="1737360"/>
            <a:ext cx="457200" cy="457200"/>
          </a:xfrm>
          <a:prstGeom prst="rect">
            <a:avLst/>
          </a:prstGeom>
          <a:noFill/>
          <a:ln/>
        </p:spPr>
        <p:txBody>
          <a:bodyPr wrap="square" lIns="0" tIns="0" rIns="0" bIns="0" rtlCol="0" anchor="ctr"/>
          <a:lstStyle/>
          <a:p>
            <a:pPr algn="ctr" indent="0" marL="0">
              <a:buNone/>
            </a:pPr>
            <a:r>
              <a:rPr lang="en-US" sz="1400" b="1" dirty="0">
                <a:solidFill>
                  <a:srgbClr val="173D31"/>
                </a:solidFill>
              </a:rPr>
              <a:t>3</a:t>
            </a:r>
            <a:endParaRPr lang="en-US" sz="1400" dirty="0"/>
          </a:p>
        </p:txBody>
      </p:sp>
      <p:sp>
        <p:nvSpPr>
          <p:cNvPr id="16" name="Text 14"/>
          <p:cNvSpPr txBox="1"/>
          <p:nvPr/>
        </p:nvSpPr>
        <p:spPr>
          <a:xfrm>
            <a:off x="8412480" y="2304288"/>
            <a:ext cx="2907792" cy="54864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rPr>
              <a:t>Some rules cannot be passed at all</a:t>
            </a:r>
            <a:endParaRPr lang="en-US" sz="1550" dirty="0"/>
          </a:p>
        </p:txBody>
      </p:sp>
      <p:sp>
        <p:nvSpPr>
          <p:cNvPr id="17" name="Text 15"/>
          <p:cNvSpPr txBox="1"/>
          <p:nvPr/>
        </p:nvSpPr>
        <p:spPr>
          <a:xfrm>
            <a:off x="8412480" y="2907792"/>
            <a:ext cx="2907792" cy="1325880"/>
          </a:xfrm>
          <a:prstGeom prst="rect">
            <a:avLst/>
          </a:prstGeom>
          <a:noFill/>
          <a:ln/>
        </p:spPr>
        <p:txBody>
          <a:bodyPr wrap="square" lIns="0" tIns="0" rIns="0" bIns="0" rtlCol="0" anchor="ctr"/>
          <a:lstStyle/>
          <a:p>
            <a:pPr indent="0" marL="0">
              <a:lnSpc>
                <a:spcPts val="1650"/>
              </a:lnSpc>
              <a:buNone/>
            </a:pPr>
            <a:r>
              <a:rPr lang="en-US" sz="1200" dirty="0">
                <a:solidFill>
                  <a:srgbClr val="A9C0B6"/>
                </a:solidFill>
              </a:rPr>
              <a:t>Paid priority, reverse auction and a cut to the payout floor are rejected by the Protection Validator before they can reach a ballot.</a:t>
            </a:r>
            <a:endParaRPr lang="en-US" sz="1200" dirty="0"/>
          </a:p>
        </p:txBody>
      </p:sp>
      <p:sp>
        <p:nvSpPr>
          <p:cNvPr id="18" name="card"/>
          <p:cNvSpPr/>
          <p:nvPr/>
        </p:nvSpPr>
        <p:spPr>
          <a:xfrm>
            <a:off x="566928" y="4626864"/>
            <a:ext cx="11027664" cy="694944"/>
          </a:xfrm>
          <a:prstGeom prst="roundRect">
            <a:avLst>
              <a:gd name="adj" fmla="val 13158"/>
            </a:avLst>
          </a:prstGeom>
          <a:solidFill>
            <a:srgbClr val="D6ED8D"/>
          </a:solidFill>
          <a:ln w="12700">
            <a:solidFill>
              <a:srgbClr val="D6ED8D"/>
            </a:solidFill>
            <a:prstDash val="solid"/>
          </a:ln>
        </p:spPr>
      </p:sp>
      <p:sp>
        <p:nvSpPr>
          <p:cNvPr id="19" name="Text 17"/>
          <p:cNvSpPr txBox="1"/>
          <p:nvPr/>
        </p:nvSpPr>
        <p:spPr>
          <a:xfrm>
            <a:off x="859536" y="4626864"/>
            <a:ext cx="10442448" cy="694944"/>
          </a:xfrm>
          <a:prstGeom prst="rect">
            <a:avLst/>
          </a:prstGeom>
          <a:noFill/>
          <a:ln/>
        </p:spPr>
        <p:txBody>
          <a:bodyPr wrap="square" lIns="0" tIns="0" rIns="0" bIns="0" rtlCol="0" anchor="ctr"/>
          <a:lstStyle/>
          <a:p>
            <a:pPr indent="0" marL="0">
              <a:buNone/>
            </a:pPr>
            <a:r>
              <a:rPr lang="en-US" sz="1450" b="1" dirty="0">
                <a:solidFill>
                  <a:srgbClr val="173D31"/>
                </a:solidFill>
              </a:rPr>
              <a:t>A cooperative that could vote away its own protections is just a company with extra steps. Code stops it — and there is a test for it.</a:t>
            </a:r>
            <a:endParaRPr lang="en-US" sz="1450" dirty="0"/>
          </a:p>
        </p:txBody>
      </p:sp>
      <p:sp>
        <p:nvSpPr>
          <p:cNvPr id="20" name="card"/>
          <p:cNvSpPr/>
          <p:nvPr/>
        </p:nvSpPr>
        <p:spPr>
          <a:xfrm>
            <a:off x="566928" y="6016752"/>
            <a:ext cx="11027664" cy="457200"/>
          </a:xfrm>
          <a:prstGeom prst="roundRect">
            <a:avLst>
              <a:gd name="adj" fmla="val 20000"/>
            </a:avLst>
          </a:prstGeom>
          <a:solidFill>
            <a:srgbClr val="1F4A3C"/>
          </a:solidFill>
          <a:ln w="12700">
            <a:solidFill>
              <a:srgbClr val="2E5C4C"/>
            </a:solidFill>
            <a:prstDash val="solid"/>
          </a:ln>
        </p:spPr>
      </p:sp>
      <p:sp>
        <p:nvSpPr>
          <p:cNvPr id="21" name="Text 19"/>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8FA89C"/>
                </a:solidFill>
              </a:rPr>
              <a:t>MONTH END  ·  SABHA  ·  POLICY TWIN  ·  PROTECTION VALIDATOR</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E8179"/>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Why Ramesh had any work that month</a:t>
            </a:r>
            <a:endParaRPr lang="en-US" sz="3400" dirty="0"/>
          </a:p>
        </p:txBody>
      </p:sp>
      <p:graphicFrame>
        <p:nvGraphicFramePr>
          <p:cNvPr id="3" name="rule-chart" descr=""/>
          <p:cNvGraphicFramePr/>
          <p:nvPr/>
        </p:nvGraphicFramePr>
        <p:xfrm>
          <a:off x="566928" y="1371600"/>
          <a:ext cx="7406640" cy="38404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321040" y="1371600"/>
            <a:ext cx="3273552" cy="3840480"/>
          </a:xfrm>
          <a:prstGeom prst="roundRect">
            <a:avLst>
              <a:gd name="adj" fmla="val 2793"/>
            </a:avLst>
          </a:prstGeom>
          <a:solidFill>
            <a:srgbClr val="183C31"/>
          </a:solidFill>
          <a:ln w="12700">
            <a:solidFill>
              <a:srgbClr val="183C31"/>
            </a:solidFill>
            <a:prstDash val="solid"/>
          </a:ln>
        </p:spPr>
      </p:sp>
      <p:sp>
        <p:nvSpPr>
          <p:cNvPr id="5" name="Text 2"/>
          <p:cNvSpPr txBox="1"/>
          <p:nvPr/>
        </p:nvSpPr>
        <p:spPr>
          <a:xfrm>
            <a:off x="8595360" y="1609344"/>
            <a:ext cx="2724912" cy="868680"/>
          </a:xfrm>
          <a:prstGeom prst="rect">
            <a:avLst/>
          </a:prstGeom>
          <a:noFill/>
          <a:ln/>
        </p:spPr>
        <p:txBody>
          <a:bodyPr wrap="square" lIns="0" tIns="0" rIns="0" bIns="0" rtlCol="0" anchor="ctr"/>
          <a:lstStyle/>
          <a:p>
            <a:pPr indent="0" marL="0">
              <a:lnSpc>
                <a:spcPts val="2200"/>
              </a:lnSpc>
              <a:buNone/>
            </a:pPr>
            <a:r>
              <a:rPr lang="en-US" sz="1600" b="1" dirty="0">
                <a:solidFill>
                  <a:srgbClr val="D6ED8D"/>
                </a:solidFill>
              </a:rPr>
              <a:t>Under the other rule, Ramesh is one of the eight who get nothing.</a:t>
            </a:r>
            <a:endParaRPr lang="en-US" sz="1600" dirty="0"/>
          </a:p>
        </p:txBody>
      </p:sp>
      <p:sp>
        <p:nvSpPr>
          <p:cNvPr id="6" name="Text 3"/>
          <p:cNvSpPr txBox="1"/>
          <p:nvPr/>
        </p:nvSpPr>
        <p:spPr>
          <a:xfrm>
            <a:off x="8595360" y="2578608"/>
            <a:ext cx="2724912" cy="1508760"/>
          </a:xfrm>
          <a:prstGeom prst="rect">
            <a:avLst/>
          </a:prstGeom>
          <a:noFill/>
          <a:ln/>
        </p:spPr>
        <p:txBody>
          <a:bodyPr wrap="square" lIns="0" tIns="0" rIns="0" bIns="0" rtlCol="0" anchor="ctr"/>
          <a:lstStyle/>
          <a:p>
            <a:pPr indent="0" marL="0">
              <a:lnSpc>
                <a:spcPts val="1650"/>
              </a:lnSpc>
              <a:buNone/>
            </a:pPr>
            <a:r>
              <a:rPr lang="en-US" sz="1200" dirty="0">
                <a:solidFill>
                  <a:srgbClr val="C8D6CF"/>
                </a:solidFill>
              </a:rPr>
              <a:t>Both columns run the same 32 jobs through the same 13 certified members, from the same workloads, at deterministic seed 26089. Both check certification first. Only the rule changes.</a:t>
            </a:r>
            <a:endParaRPr lang="en-US" sz="1200" dirty="0"/>
          </a:p>
        </p:txBody>
      </p:sp>
      <p:sp>
        <p:nvSpPr>
          <p:cNvPr id="7" name="Text 4"/>
          <p:cNvSpPr txBox="1"/>
          <p:nvPr/>
        </p:nvSpPr>
        <p:spPr>
          <a:xfrm>
            <a:off x="8595360" y="4206240"/>
            <a:ext cx="2724912" cy="731520"/>
          </a:xfrm>
          <a:prstGeom prst="rect">
            <a:avLst/>
          </a:prstGeom>
          <a:noFill/>
          <a:ln/>
        </p:spPr>
        <p:txBody>
          <a:bodyPr wrap="square" lIns="0" tIns="0" rIns="0" bIns="0" rtlCol="0" anchor="ctr"/>
          <a:lstStyle/>
          <a:p>
            <a:pPr indent="0" marL="0">
              <a:lnSpc>
                <a:spcPts val="1500"/>
              </a:lnSpc>
              <a:buNone/>
            </a:pPr>
            <a:r>
              <a:rPr lang="en-US" sz="1150" i="1" dirty="0">
                <a:solidFill>
                  <a:srgbClr val="8FA89C"/>
                </a:solidFill>
              </a:rPr>
              <a:t>A counterfactual against a rule — not an accusation against any company.</a:t>
            </a:r>
            <a:endParaRPr lang="en-US" sz="1150" dirty="0"/>
          </a:p>
        </p:txBody>
      </p:sp>
      <p:sp>
        <p:nvSpPr>
          <p:cNvPr id="8" name="Text 5"/>
          <p:cNvSpPr txBox="1"/>
          <p:nvPr/>
        </p:nvSpPr>
        <p:spPr>
          <a:xfrm>
            <a:off x="566928" y="5340096"/>
            <a:ext cx="7406640" cy="274320"/>
          </a:xfrm>
          <a:prstGeom prst="rect">
            <a:avLst/>
          </a:prstGeom>
          <a:noFill/>
          <a:ln/>
        </p:spPr>
        <p:txBody>
          <a:bodyPr wrap="square" lIns="0" tIns="0" rIns="0" bIns="0" rtlCol="0" anchor="ctr"/>
          <a:lstStyle/>
          <a:p>
            <a:pPr indent="0" marL="0">
              <a:buNone/>
            </a:pPr>
            <a:r>
              <a:rPr lang="en-US" sz="1100" dirty="0">
                <a:solidFill>
                  <a:srgbClr val="8C938E"/>
                </a:solidFill>
              </a:rPr>
              <a:t>Computed live by lib/rule-comparison.ts, read-only, identical on every machine. No number here is illustrative.</a:t>
            </a:r>
            <a:endParaRPr lang="en-US" sz="1100" dirty="0"/>
          </a:p>
        </p:txBody>
      </p:sp>
      <p:sp>
        <p:nvSpPr>
          <p:cNvPr id="9"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10" name="Text 7"/>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THE WHOLE MONTH  ·  SAME JOBS. SAME MEMBERS. ONE THING CHANGED.</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Ownership alone would not have helped him</a:t>
            </a:r>
            <a:endParaRPr lang="en-US" sz="3400" dirty="0"/>
          </a:p>
        </p:txBody>
      </p:sp>
      <p:sp>
        <p:nvSpPr>
          <p:cNvPr id="3" name="card"/>
          <p:cNvSpPr/>
          <p:nvPr/>
        </p:nvSpPr>
        <p:spPr>
          <a:xfrm>
            <a:off x="566928" y="1389888"/>
            <a:ext cx="5257800" cy="1965960"/>
          </a:xfrm>
          <a:prstGeom prst="roundRect">
            <a:avLst>
              <a:gd name="adj" fmla="val 4651"/>
            </a:avLst>
          </a:prstGeom>
          <a:solidFill>
            <a:srgbClr val="F2F6F3"/>
          </a:solidFill>
          <a:ln w="12700">
            <a:solidFill>
              <a:srgbClr val="D7E2DB"/>
            </a:solidFill>
            <a:prstDash val="solid"/>
          </a:ln>
        </p:spPr>
      </p:sp>
      <p:sp>
        <p:nvSpPr>
          <p:cNvPr id="4" name="eyebrow"/>
          <p:cNvSpPr txBox="1"/>
          <p:nvPr/>
        </p:nvSpPr>
        <p:spPr>
          <a:xfrm>
            <a:off x="841248" y="1627632"/>
            <a:ext cx="4663440" cy="237744"/>
          </a:xfrm>
          <a:prstGeom prst="rect">
            <a:avLst/>
          </a:prstGeom>
          <a:noFill/>
          <a:ln/>
        </p:spPr>
        <p:txBody>
          <a:bodyPr wrap="square" lIns="0" tIns="0" rIns="0" bIns="0" rtlCol="0" anchor="ctr"/>
          <a:lstStyle/>
          <a:p>
            <a:pPr indent="0" marL="0">
              <a:buNone/>
            </a:pPr>
            <a:r>
              <a:rPr lang="en-US" sz="1100" b="1" spc="200" kern="0" dirty="0">
                <a:solidFill>
                  <a:srgbClr val="176B52"/>
                </a:solidFill>
              </a:rPr>
              <a:t>5 FEBRUARY 2026</a:t>
            </a:r>
            <a:endParaRPr lang="en-US" sz="1100" dirty="0"/>
          </a:p>
        </p:txBody>
      </p:sp>
      <p:sp>
        <p:nvSpPr>
          <p:cNvPr id="5" name="Text 3"/>
          <p:cNvSpPr txBox="1"/>
          <p:nvPr/>
        </p:nvSpPr>
        <p:spPr>
          <a:xfrm>
            <a:off x="841248" y="1920240"/>
            <a:ext cx="4709160" cy="658368"/>
          </a:xfrm>
          <a:prstGeom prst="rect">
            <a:avLst/>
          </a:prstGeom>
          <a:noFill/>
          <a:ln/>
        </p:spPr>
        <p:txBody>
          <a:bodyPr wrap="square" lIns="0" tIns="0" rIns="0" bIns="0" rtlCol="0" anchor="ctr"/>
          <a:lstStyle/>
          <a:p>
            <a:pPr indent="0" marL="0">
              <a:lnSpc>
                <a:spcPts val="2400"/>
              </a:lnSpc>
              <a:buNone/>
            </a:pPr>
            <a:r>
              <a:rPr lang="en-US" sz="1800" b="1" dirty="0">
                <a:solidFill>
                  <a:srgbClr val="173D31"/>
                </a:solidFill>
              </a:rPr>
              <a:t>India launched a cooperative ride-hailing platform</a:t>
            </a:r>
            <a:endParaRPr lang="en-US" sz="1800" dirty="0"/>
          </a:p>
        </p:txBody>
      </p:sp>
      <p:sp>
        <p:nvSpPr>
          <p:cNvPr id="6" name="Text 4"/>
          <p:cNvSpPr txBox="1"/>
          <p:nvPr/>
        </p:nvSpPr>
        <p:spPr>
          <a:xfrm>
            <a:off x="841248" y="2615184"/>
            <a:ext cx="4709160" cy="621792"/>
          </a:xfrm>
          <a:prstGeom prst="rect">
            <a:avLst/>
          </a:prstGeom>
          <a:noFill/>
          <a:ln/>
        </p:spPr>
        <p:txBody>
          <a:bodyPr wrap="square" lIns="0" tIns="0" rIns="0" bIns="0" rtlCol="0" anchor="ctr"/>
          <a:lstStyle/>
          <a:p>
            <a:pPr indent="0" marL="0">
              <a:lnSpc>
                <a:spcPts val="1700"/>
              </a:lnSpc>
              <a:buNone/>
            </a:pPr>
            <a:r>
              <a:rPr lang="en-US" sz="1250" dirty="0">
                <a:solidFill>
                  <a:srgbClr val="5A6660"/>
                </a:solidFill>
              </a:rPr>
              <a:t>Bharat Taxi. Drivers buy shares, elect the board, take the profit. “Sarathi Hi Malik” — the driver is the owner.</a:t>
            </a:r>
            <a:endParaRPr lang="en-US" sz="1250" dirty="0"/>
          </a:p>
        </p:txBody>
      </p:sp>
      <p:sp>
        <p:nvSpPr>
          <p:cNvPr id="7" name="card"/>
          <p:cNvSpPr/>
          <p:nvPr/>
        </p:nvSpPr>
        <p:spPr>
          <a:xfrm>
            <a:off x="6153912" y="1389888"/>
            <a:ext cx="5440680" cy="1965960"/>
          </a:xfrm>
          <a:prstGeom prst="roundRect">
            <a:avLst>
              <a:gd name="adj" fmla="val 4651"/>
            </a:avLst>
          </a:prstGeom>
          <a:solidFill>
            <a:srgbClr val="FBF0EE"/>
          </a:solidFill>
          <a:ln w="12700">
            <a:solidFill>
              <a:srgbClr val="E6CCC7"/>
            </a:solidFill>
            <a:prstDash val="solid"/>
          </a:ln>
        </p:spPr>
      </p:sp>
      <p:sp>
        <p:nvSpPr>
          <p:cNvPr id="8" name="eyebrow"/>
          <p:cNvSpPr txBox="1"/>
          <p:nvPr/>
        </p:nvSpPr>
        <p:spPr>
          <a:xfrm>
            <a:off x="6428232" y="1627632"/>
            <a:ext cx="4846320" cy="237744"/>
          </a:xfrm>
          <a:prstGeom prst="rect">
            <a:avLst/>
          </a:prstGeom>
          <a:noFill/>
          <a:ln/>
        </p:spPr>
        <p:txBody>
          <a:bodyPr wrap="square" lIns="0" tIns="0" rIns="0" bIns="0" rtlCol="0" anchor="ctr"/>
          <a:lstStyle/>
          <a:p>
            <a:pPr indent="0" marL="0">
              <a:buNone/>
            </a:pPr>
            <a:r>
              <a:rPr lang="en-US" sz="1100" b="1" spc="200" kern="0" dirty="0">
                <a:solidFill>
                  <a:srgbClr val="9C382F"/>
                </a:solidFill>
              </a:rPr>
              <a:t>WITHIN MONTHS</a:t>
            </a:r>
            <a:endParaRPr lang="en-US" sz="1100" dirty="0"/>
          </a:p>
        </p:txBody>
      </p:sp>
      <p:sp>
        <p:nvSpPr>
          <p:cNvPr id="9" name="Text 7"/>
          <p:cNvSpPr txBox="1"/>
          <p:nvPr/>
        </p:nvSpPr>
        <p:spPr>
          <a:xfrm>
            <a:off x="6428232" y="1920240"/>
            <a:ext cx="4892040" cy="658368"/>
          </a:xfrm>
          <a:prstGeom prst="rect">
            <a:avLst/>
          </a:prstGeom>
          <a:noFill/>
          <a:ln/>
        </p:spPr>
        <p:txBody>
          <a:bodyPr wrap="square" lIns="0" tIns="0" rIns="0" bIns="0" rtlCol="0" anchor="ctr"/>
          <a:lstStyle/>
          <a:p>
            <a:pPr indent="0" marL="0">
              <a:lnSpc>
                <a:spcPts val="2400"/>
              </a:lnSpc>
              <a:buNone/>
            </a:pPr>
            <a:r>
              <a:rPr lang="en-US" sz="1800" b="1" dirty="0">
                <a:solidFill>
                  <a:srgbClr val="7D332A"/>
                </a:solidFill>
              </a:rPr>
              <a:t>A drivers' union demanded an independent audit</a:t>
            </a:r>
            <a:endParaRPr lang="en-US" sz="1800" dirty="0"/>
          </a:p>
        </p:txBody>
      </p:sp>
      <p:sp>
        <p:nvSpPr>
          <p:cNvPr id="10" name="Text 8"/>
          <p:cNvSpPr txBox="1"/>
          <p:nvPr/>
        </p:nvSpPr>
        <p:spPr>
          <a:xfrm>
            <a:off x="6428232" y="2615184"/>
            <a:ext cx="4892040" cy="621792"/>
          </a:xfrm>
          <a:prstGeom prst="rect">
            <a:avLst/>
          </a:prstGeom>
          <a:noFill/>
          <a:ln/>
        </p:spPr>
        <p:txBody>
          <a:bodyPr wrap="square" lIns="0" tIns="0" rIns="0" bIns="0" rtlCol="0" anchor="ctr"/>
          <a:lstStyle/>
          <a:p>
            <a:pPr indent="0" marL="0">
              <a:lnSpc>
                <a:spcPts val="1700"/>
              </a:lnSpc>
              <a:buNone/>
            </a:pPr>
            <a:r>
              <a:rPr lang="en-US" sz="1250" dirty="0">
                <a:solidFill>
                  <a:srgbClr val="6B4A45"/>
                </a:solidFill>
              </a:rPr>
              <a:t>Alleging unfair earnings, undelivered welfare measures and termination without notice — at the cooperative the drivers themselves own.</a:t>
            </a:r>
            <a:endParaRPr lang="en-US" sz="1250" dirty="0"/>
          </a:p>
        </p:txBody>
      </p:sp>
      <p:sp>
        <p:nvSpPr>
          <p:cNvPr id="11" name="card"/>
          <p:cNvSpPr/>
          <p:nvPr/>
        </p:nvSpPr>
        <p:spPr>
          <a:xfrm>
            <a:off x="566928" y="3566160"/>
            <a:ext cx="11027664" cy="1463040"/>
          </a:xfrm>
          <a:prstGeom prst="roundRect">
            <a:avLst>
              <a:gd name="adj" fmla="val 6250"/>
            </a:avLst>
          </a:prstGeom>
          <a:solidFill>
            <a:srgbClr val="183C31"/>
          </a:solidFill>
          <a:ln w="12700">
            <a:solidFill>
              <a:srgbClr val="183C31"/>
            </a:solidFill>
            <a:prstDash val="solid"/>
          </a:ln>
        </p:spPr>
      </p:sp>
      <p:sp>
        <p:nvSpPr>
          <p:cNvPr id="12" name="Text 10"/>
          <p:cNvSpPr txBox="1"/>
          <p:nvPr/>
        </p:nvSpPr>
        <p:spPr>
          <a:xfrm>
            <a:off x="932688" y="3785616"/>
            <a:ext cx="10296144" cy="457200"/>
          </a:xfrm>
          <a:prstGeom prst="rect">
            <a:avLst/>
          </a:prstGeom>
          <a:noFill/>
          <a:ln/>
        </p:spPr>
        <p:txBody>
          <a:bodyPr wrap="square" lIns="0" tIns="0" rIns="0" bIns="0" rtlCol="0" anchor="ctr"/>
          <a:lstStyle/>
          <a:p>
            <a:pPr indent="0" marL="0">
              <a:buNone/>
            </a:pPr>
            <a:r>
              <a:rPr lang="en-US" sz="2100" b="1" dirty="0">
                <a:solidFill>
                  <a:srgbClr val="FFFFFF"/>
                </a:solidFill>
              </a:rPr>
              <a:t>Changing who takes the profit did not make one decision answerable.</a:t>
            </a:r>
            <a:endParaRPr lang="en-US" sz="2100" dirty="0"/>
          </a:p>
        </p:txBody>
      </p:sp>
      <p:sp>
        <p:nvSpPr>
          <p:cNvPr id="13" name="Text 11"/>
          <p:cNvSpPr txBox="1"/>
          <p:nvPr/>
        </p:nvSpPr>
        <p:spPr>
          <a:xfrm>
            <a:off x="932688" y="4261104"/>
            <a:ext cx="10296144" cy="621792"/>
          </a:xfrm>
          <a:prstGeom prst="rect">
            <a:avLst/>
          </a:prstGeom>
          <a:noFill/>
          <a:ln/>
        </p:spPr>
        <p:txBody>
          <a:bodyPr wrap="square" lIns="0" tIns="0" rIns="0" bIns="0" rtlCol="0" anchor="ctr"/>
          <a:lstStyle/>
          <a:p>
            <a:pPr indent="0" marL="0">
              <a:lnSpc>
                <a:spcPts val="1900"/>
              </a:lnSpc>
              <a:buNone/>
            </a:pPr>
            <a:r>
              <a:rPr lang="en-US" sz="1350" dirty="0">
                <a:solidFill>
                  <a:srgbClr val="C8D6CF"/>
                </a:solidFill>
              </a:rPr>
              <a:t>You cannot audit what was never recorded. Ramesh does not need a share certificate — he needs the register to remember why, in words he can read, on the day it happened. That gap is the product.</a:t>
            </a:r>
            <a:endParaRPr lang="en-US" sz="1350" dirty="0"/>
          </a:p>
        </p:txBody>
      </p:sp>
      <p:sp>
        <p:nvSpPr>
          <p:cNvPr id="14" name="Text 12"/>
          <p:cNvSpPr txBox="1"/>
          <p:nvPr/>
        </p:nvSpPr>
        <p:spPr>
          <a:xfrm>
            <a:off x="566928" y="5138928"/>
            <a:ext cx="11027664" cy="274320"/>
          </a:xfrm>
          <a:prstGeom prst="rect">
            <a:avLst/>
          </a:prstGeom>
          <a:noFill/>
          <a:ln/>
        </p:spPr>
        <p:txBody>
          <a:bodyPr wrap="square" lIns="0" tIns="0" rIns="0" bIns="0" rtlCol="0" anchor="ctr"/>
          <a:lstStyle/>
          <a:p>
            <a:pPr indent="0" marL="0">
              <a:buNone/>
            </a:pPr>
            <a:r>
              <a:rPr lang="en-US" sz="1000" i="1" dirty="0">
                <a:solidFill>
                  <a:srgbClr val="8C938E"/>
                </a:solidFill>
              </a:rPr>
              <a:t>Reported by Indian Cooperative, 2026. Allegations by the All Delhi Auto Taxi Transport Congress Union; no finding has been made.</a:t>
            </a:r>
            <a:endParaRPr lang="en-US" sz="1000" dirty="0"/>
          </a:p>
        </p:txBody>
      </p:sp>
      <p:sp>
        <p:nvSpPr>
          <p:cNvPr id="15"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16" name="Text 14"/>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WHY THIS IS NOT A SOLVED PROBLEM</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chemeClr val="tx2"/>
                </a:solidFill>
              </a:rPr>
              <a:t>What is real, and what we build here</a:t>
            </a:r>
            <a:endParaRPr lang="en-US" sz="3400" dirty="0"/>
          </a:p>
        </p:txBody>
      </p:sp>
      <p:sp>
        <p:nvSpPr>
          <p:cNvPr id="3" name="card"/>
          <p:cNvSpPr/>
          <p:nvPr/>
        </p:nvSpPr>
        <p:spPr>
          <a:xfrm>
            <a:off x="566928" y="1371600"/>
            <a:ext cx="2660904" cy="1097280"/>
          </a:xfrm>
          <a:prstGeom prst="roundRect">
            <a:avLst>
              <a:gd name="adj" fmla="val 8333"/>
            </a:avLst>
          </a:prstGeom>
          <a:solidFill>
            <a:srgbClr val="183C31"/>
          </a:solidFill>
          <a:ln w="12700">
            <a:solidFill>
              <a:srgbClr val="183C31"/>
            </a:solidFill>
            <a:prstDash val="solid"/>
          </a:ln>
        </p:spPr>
      </p:sp>
      <p:sp>
        <p:nvSpPr>
          <p:cNvPr id="4" name="Text 2"/>
          <p:cNvSpPr txBox="1"/>
          <p:nvPr/>
        </p:nvSpPr>
        <p:spPr>
          <a:xfrm>
            <a:off x="786384" y="1481328"/>
            <a:ext cx="2221992" cy="548640"/>
          </a:xfrm>
          <a:prstGeom prst="rect">
            <a:avLst/>
          </a:prstGeom>
          <a:noFill/>
          <a:ln/>
        </p:spPr>
        <p:txBody>
          <a:bodyPr wrap="square" lIns="0" tIns="0" rIns="0" bIns="0" rtlCol="0" anchor="ctr"/>
          <a:lstStyle/>
          <a:p>
            <a:pPr indent="0" marL="0">
              <a:buNone/>
            </a:pPr>
            <a:r>
              <a:rPr lang="en-US" sz="3200" b="1" dirty="0">
                <a:solidFill>
                  <a:srgbClr val="D6ED8D"/>
                </a:solidFill>
              </a:rPr>
              <a:t>131</a:t>
            </a:r>
            <a:endParaRPr lang="en-US" sz="3200" dirty="0"/>
          </a:p>
        </p:txBody>
      </p:sp>
      <p:sp>
        <p:nvSpPr>
          <p:cNvPr id="5" name="Text 3"/>
          <p:cNvSpPr txBox="1"/>
          <p:nvPr/>
        </p:nvSpPr>
        <p:spPr>
          <a:xfrm>
            <a:off x="786384" y="2011680"/>
            <a:ext cx="2221992" cy="347472"/>
          </a:xfrm>
          <a:prstGeom prst="rect">
            <a:avLst/>
          </a:prstGeom>
          <a:noFill/>
          <a:ln/>
        </p:spPr>
        <p:txBody>
          <a:bodyPr wrap="square" lIns="0" tIns="0" rIns="0" bIns="0" rtlCol="0" anchor="ctr"/>
          <a:lstStyle/>
          <a:p>
            <a:pPr indent="0" marL="0">
              <a:buNone/>
            </a:pPr>
            <a:r>
              <a:rPr lang="en-US" sz="1150" dirty="0">
                <a:solidFill>
                  <a:srgbClr val="A9C0B6"/>
                </a:solidFill>
              </a:rPr>
              <a:t>automated tests, all passing</a:t>
            </a:r>
            <a:endParaRPr lang="en-US" sz="1150" dirty="0"/>
          </a:p>
        </p:txBody>
      </p:sp>
      <p:sp>
        <p:nvSpPr>
          <p:cNvPr id="6" name="card"/>
          <p:cNvSpPr/>
          <p:nvPr/>
        </p:nvSpPr>
        <p:spPr>
          <a:xfrm>
            <a:off x="3401568" y="1371600"/>
            <a:ext cx="2660904" cy="1097280"/>
          </a:xfrm>
          <a:prstGeom prst="roundRect">
            <a:avLst>
              <a:gd name="adj" fmla="val 8333"/>
            </a:avLst>
          </a:prstGeom>
          <a:solidFill>
            <a:srgbClr val="183C31"/>
          </a:solidFill>
          <a:ln w="12700">
            <a:solidFill>
              <a:srgbClr val="183C31"/>
            </a:solidFill>
            <a:prstDash val="solid"/>
          </a:ln>
        </p:spPr>
      </p:sp>
      <p:sp>
        <p:nvSpPr>
          <p:cNvPr id="7" name="Text 5"/>
          <p:cNvSpPr txBox="1"/>
          <p:nvPr/>
        </p:nvSpPr>
        <p:spPr>
          <a:xfrm>
            <a:off x="3621024" y="1481328"/>
            <a:ext cx="2221992" cy="548640"/>
          </a:xfrm>
          <a:prstGeom prst="rect">
            <a:avLst/>
          </a:prstGeom>
          <a:noFill/>
          <a:ln/>
        </p:spPr>
        <p:txBody>
          <a:bodyPr wrap="square" lIns="0" tIns="0" rIns="0" bIns="0" rtlCol="0" anchor="ctr"/>
          <a:lstStyle/>
          <a:p>
            <a:pPr indent="0" marL="0">
              <a:buNone/>
            </a:pPr>
            <a:r>
              <a:rPr lang="en-US" sz="3200" b="1" dirty="0">
                <a:solidFill>
                  <a:srgbClr val="D6ED8D"/>
                </a:solidFill>
              </a:rPr>
              <a:t>26089</a:t>
            </a:r>
            <a:endParaRPr lang="en-US" sz="3200" dirty="0"/>
          </a:p>
        </p:txBody>
      </p:sp>
      <p:sp>
        <p:nvSpPr>
          <p:cNvPr id="8" name="Text 6"/>
          <p:cNvSpPr txBox="1"/>
          <p:nvPr/>
        </p:nvSpPr>
        <p:spPr>
          <a:xfrm>
            <a:off x="3621024" y="2011680"/>
            <a:ext cx="2221992" cy="347472"/>
          </a:xfrm>
          <a:prstGeom prst="rect">
            <a:avLst/>
          </a:prstGeom>
          <a:noFill/>
          <a:ln/>
        </p:spPr>
        <p:txBody>
          <a:bodyPr wrap="square" lIns="0" tIns="0" rIns="0" bIns="0" rtlCol="0" anchor="ctr"/>
          <a:lstStyle/>
          <a:p>
            <a:pPr indent="0" marL="0">
              <a:buNone/>
            </a:pPr>
            <a:r>
              <a:rPr lang="en-US" sz="1150" dirty="0">
                <a:solidFill>
                  <a:srgbClr val="A9C0B6"/>
                </a:solidFill>
              </a:rPr>
              <a:t>deterministic seed</a:t>
            </a:r>
            <a:endParaRPr lang="en-US" sz="1150" dirty="0"/>
          </a:p>
        </p:txBody>
      </p:sp>
      <p:sp>
        <p:nvSpPr>
          <p:cNvPr id="9" name="card"/>
          <p:cNvSpPr/>
          <p:nvPr/>
        </p:nvSpPr>
        <p:spPr>
          <a:xfrm>
            <a:off x="6236208" y="1371600"/>
            <a:ext cx="2660904" cy="1097280"/>
          </a:xfrm>
          <a:prstGeom prst="roundRect">
            <a:avLst>
              <a:gd name="adj" fmla="val 8333"/>
            </a:avLst>
          </a:prstGeom>
          <a:solidFill>
            <a:srgbClr val="183C31"/>
          </a:solidFill>
          <a:ln w="12700">
            <a:solidFill>
              <a:srgbClr val="183C31"/>
            </a:solidFill>
            <a:prstDash val="solid"/>
          </a:ln>
        </p:spPr>
      </p:sp>
      <p:sp>
        <p:nvSpPr>
          <p:cNvPr id="10" name="Text 8"/>
          <p:cNvSpPr txBox="1"/>
          <p:nvPr/>
        </p:nvSpPr>
        <p:spPr>
          <a:xfrm>
            <a:off x="6455664" y="1481328"/>
            <a:ext cx="2221992" cy="548640"/>
          </a:xfrm>
          <a:prstGeom prst="rect">
            <a:avLst/>
          </a:prstGeom>
          <a:noFill/>
          <a:ln/>
        </p:spPr>
        <p:txBody>
          <a:bodyPr wrap="square" lIns="0" tIns="0" rIns="0" bIns="0" rtlCol="0" anchor="ctr"/>
          <a:lstStyle/>
          <a:p>
            <a:pPr indent="0" marL="0">
              <a:buNone/>
            </a:pPr>
            <a:r>
              <a:rPr lang="en-US" sz="3200" b="1" dirty="0">
                <a:solidFill>
                  <a:srgbClr val="D6ED8D"/>
                </a:solidFill>
              </a:rPr>
              <a:t>3</a:t>
            </a:r>
            <a:endParaRPr lang="en-US" sz="3200" dirty="0"/>
          </a:p>
        </p:txBody>
      </p:sp>
      <p:sp>
        <p:nvSpPr>
          <p:cNvPr id="11" name="Text 9"/>
          <p:cNvSpPr txBox="1"/>
          <p:nvPr/>
        </p:nvSpPr>
        <p:spPr>
          <a:xfrm>
            <a:off x="6455664" y="2011680"/>
            <a:ext cx="2221992" cy="347472"/>
          </a:xfrm>
          <a:prstGeom prst="rect">
            <a:avLst/>
          </a:prstGeom>
          <a:noFill/>
          <a:ln/>
        </p:spPr>
        <p:txBody>
          <a:bodyPr wrap="square" lIns="0" tIns="0" rIns="0" bIns="0" rtlCol="0" anchor="ctr"/>
          <a:lstStyle/>
          <a:p>
            <a:pPr indent="0" marL="0">
              <a:buNone/>
            </a:pPr>
            <a:r>
              <a:rPr lang="en-US" sz="1150" dirty="0">
                <a:solidFill>
                  <a:srgbClr val="A9C0B6"/>
                </a:solidFill>
              </a:rPr>
              <a:t>languages, 357 messages each</a:t>
            </a:r>
            <a:endParaRPr lang="en-US" sz="1150" dirty="0"/>
          </a:p>
        </p:txBody>
      </p:sp>
      <p:sp>
        <p:nvSpPr>
          <p:cNvPr id="12" name="card"/>
          <p:cNvSpPr/>
          <p:nvPr/>
        </p:nvSpPr>
        <p:spPr>
          <a:xfrm>
            <a:off x="9070848" y="1371600"/>
            <a:ext cx="2660904" cy="1097280"/>
          </a:xfrm>
          <a:prstGeom prst="roundRect">
            <a:avLst>
              <a:gd name="adj" fmla="val 8333"/>
            </a:avLst>
          </a:prstGeom>
          <a:solidFill>
            <a:srgbClr val="183C31"/>
          </a:solidFill>
          <a:ln w="12700">
            <a:solidFill>
              <a:srgbClr val="183C31"/>
            </a:solidFill>
            <a:prstDash val="solid"/>
          </a:ln>
        </p:spPr>
      </p:sp>
      <p:sp>
        <p:nvSpPr>
          <p:cNvPr id="13" name="Text 11"/>
          <p:cNvSpPr txBox="1"/>
          <p:nvPr/>
        </p:nvSpPr>
        <p:spPr>
          <a:xfrm>
            <a:off x="9290304" y="1481328"/>
            <a:ext cx="2221992" cy="548640"/>
          </a:xfrm>
          <a:prstGeom prst="rect">
            <a:avLst/>
          </a:prstGeom>
          <a:noFill/>
          <a:ln/>
        </p:spPr>
        <p:txBody>
          <a:bodyPr wrap="square" lIns="0" tIns="0" rIns="0" bIns="0" rtlCol="0" anchor="ctr"/>
          <a:lstStyle/>
          <a:p>
            <a:pPr indent="0" marL="0">
              <a:buNone/>
            </a:pPr>
            <a:r>
              <a:rPr lang="en-US" sz="3200" b="1" dirty="0">
                <a:solidFill>
                  <a:srgbClr val="D6ED8D"/>
                </a:solidFill>
              </a:rPr>
              <a:t>0</a:t>
            </a:r>
            <a:endParaRPr lang="en-US" sz="3200" dirty="0"/>
          </a:p>
        </p:txBody>
      </p:sp>
      <p:sp>
        <p:nvSpPr>
          <p:cNvPr id="14" name="Text 12"/>
          <p:cNvSpPr txBox="1"/>
          <p:nvPr/>
        </p:nvSpPr>
        <p:spPr>
          <a:xfrm>
            <a:off x="9290304" y="2011680"/>
            <a:ext cx="2221992" cy="347472"/>
          </a:xfrm>
          <a:prstGeom prst="rect">
            <a:avLst/>
          </a:prstGeom>
          <a:noFill/>
          <a:ln/>
        </p:spPr>
        <p:txBody>
          <a:bodyPr wrap="square" lIns="0" tIns="0" rIns="0" bIns="0" rtlCol="0" anchor="ctr"/>
          <a:lstStyle/>
          <a:p>
            <a:pPr indent="0" marL="0">
              <a:buNone/>
            </a:pPr>
            <a:r>
              <a:rPr lang="en-US" sz="1150" dirty="0">
                <a:solidFill>
                  <a:srgbClr val="A9C0B6"/>
                </a:solidFill>
              </a:rPr>
              <a:t>protection violations in federation</a:t>
            </a:r>
            <a:endParaRPr lang="en-US" sz="1150" dirty="0"/>
          </a:p>
        </p:txBody>
      </p:sp>
      <p:sp>
        <p:nvSpPr>
          <p:cNvPr id="15" name="card"/>
          <p:cNvSpPr/>
          <p:nvPr/>
        </p:nvSpPr>
        <p:spPr>
          <a:xfrm>
            <a:off x="566928" y="2651760"/>
            <a:ext cx="5257800" cy="1691640"/>
          </a:xfrm>
          <a:prstGeom prst="roundRect">
            <a:avLst>
              <a:gd name="adj" fmla="val 5405"/>
            </a:avLst>
          </a:prstGeom>
          <a:solidFill>
            <a:srgbClr val="FFFFFF"/>
          </a:solidFill>
          <a:ln w="12700">
            <a:solidFill>
              <a:srgbClr val="DCE2DD"/>
            </a:solidFill>
            <a:prstDash val="solid"/>
          </a:ln>
        </p:spPr>
      </p:sp>
      <p:sp>
        <p:nvSpPr>
          <p:cNvPr id="16" name="eyebrow"/>
          <p:cNvSpPr txBox="1"/>
          <p:nvPr/>
        </p:nvSpPr>
        <p:spPr>
          <a:xfrm>
            <a:off x="841248" y="2871216"/>
            <a:ext cx="4663440" cy="237744"/>
          </a:xfrm>
          <a:prstGeom prst="rect">
            <a:avLst/>
          </a:prstGeom>
          <a:noFill/>
          <a:ln/>
        </p:spPr>
        <p:txBody>
          <a:bodyPr wrap="square" lIns="0" tIns="0" rIns="0" bIns="0" rtlCol="0" anchor="ctr"/>
          <a:lstStyle/>
          <a:p>
            <a:pPr indent="0" marL="0">
              <a:buNone/>
            </a:pPr>
            <a:r>
              <a:rPr lang="en-US" sz="1100" b="1" spc="200" kern="0" dirty="0">
                <a:solidFill>
                  <a:srgbClr val="176B52"/>
                </a:solidFill>
              </a:rPr>
              <a:t>REAL CODE, TESTED</a:t>
            </a:r>
            <a:endParaRPr lang="en-US" sz="1100" dirty="0"/>
          </a:p>
        </p:txBody>
      </p:sp>
      <p:sp>
        <p:nvSpPr>
          <p:cNvPr id="17" name="Text 15"/>
          <p:cNvSpPr txBox="1"/>
          <p:nvPr/>
        </p:nvSpPr>
        <p:spPr>
          <a:xfrm>
            <a:off x="841248" y="3163824"/>
            <a:ext cx="4709160" cy="777240"/>
          </a:xfrm>
          <a:prstGeom prst="rect">
            <a:avLst/>
          </a:prstGeom>
          <a:noFill/>
          <a:ln/>
        </p:spPr>
        <p:txBody>
          <a:bodyPr wrap="square" lIns="0" tIns="0" rIns="0" bIns="0" rtlCol="0" anchor="ctr"/>
          <a:lstStyle/>
          <a:p>
            <a:pPr indent="0" marL="0">
              <a:lnSpc>
                <a:spcPts val="1700"/>
              </a:lnSpc>
              <a:buNone/>
            </a:pPr>
            <a:r>
              <a:rPr lang="en-US" sz="1250" dirty="0">
                <a:solidFill>
                  <a:srgbClr val="3F4B45"/>
                </a:solidFill>
              </a:rPr>
              <a:t>Dispatch engine · decision receipts · Replay Court · OTP signing · federation routing · ballots · on-device voice intake and read-aloud · three languages.</a:t>
            </a:r>
            <a:endParaRPr lang="en-US" sz="1250" dirty="0"/>
          </a:p>
        </p:txBody>
      </p:sp>
      <p:sp>
        <p:nvSpPr>
          <p:cNvPr id="18" name="Text 16"/>
          <p:cNvSpPr txBox="1"/>
          <p:nvPr/>
        </p:nvSpPr>
        <p:spPr>
          <a:xfrm>
            <a:off x="841248" y="3950208"/>
            <a:ext cx="4709160" cy="329184"/>
          </a:xfrm>
          <a:prstGeom prst="rect">
            <a:avLst/>
          </a:prstGeom>
          <a:noFill/>
          <a:ln/>
        </p:spPr>
        <p:txBody>
          <a:bodyPr wrap="square" lIns="0" tIns="0" rIns="0" bIns="0" rtlCol="0" anchor="ctr"/>
          <a:lstStyle/>
          <a:p>
            <a:pPr indent="0" marL="0">
              <a:buNone/>
            </a:pPr>
            <a:r>
              <a:rPr lang="en-US" sz="1150" i="1" dirty="0">
                <a:solidFill>
                  <a:srgbClr val="8C938E"/>
                </a:solidFill>
              </a:rPr>
              <a:t>Clearly a demo: payments are a mock settlement sheet, and the register lives in the browser.</a:t>
            </a:r>
            <a:endParaRPr lang="en-US" sz="1150" dirty="0"/>
          </a:p>
        </p:txBody>
      </p:sp>
      <p:sp>
        <p:nvSpPr>
          <p:cNvPr id="19" name="card"/>
          <p:cNvSpPr/>
          <p:nvPr/>
        </p:nvSpPr>
        <p:spPr>
          <a:xfrm>
            <a:off x="6153912" y="2651760"/>
            <a:ext cx="5440680" cy="1691640"/>
          </a:xfrm>
          <a:prstGeom prst="roundRect">
            <a:avLst>
              <a:gd name="adj" fmla="val 5405"/>
            </a:avLst>
          </a:prstGeom>
          <a:solidFill>
            <a:srgbClr val="183C31"/>
          </a:solidFill>
          <a:ln w="12700">
            <a:solidFill>
              <a:srgbClr val="183C31"/>
            </a:solidFill>
            <a:prstDash val="solid"/>
          </a:ln>
        </p:spPr>
      </p:sp>
      <p:sp>
        <p:nvSpPr>
          <p:cNvPr id="20" name="eyebrow"/>
          <p:cNvSpPr txBox="1"/>
          <p:nvPr/>
        </p:nvSpPr>
        <p:spPr>
          <a:xfrm>
            <a:off x="6428232" y="2871216"/>
            <a:ext cx="4846320" cy="237744"/>
          </a:xfrm>
          <a:prstGeom prst="rect">
            <a:avLst/>
          </a:prstGeom>
          <a:noFill/>
          <a:ln/>
        </p:spPr>
        <p:txBody>
          <a:bodyPr wrap="square" lIns="0" tIns="0" rIns="0" bIns="0" rtlCol="0" anchor="ctr"/>
          <a:lstStyle/>
          <a:p>
            <a:pPr indent="0" marL="0">
              <a:buNone/>
            </a:pPr>
            <a:r>
              <a:rPr lang="en-US" sz="1100" b="1" spc="200" kern="0" dirty="0">
                <a:solidFill>
                  <a:srgbClr val="8FA89C"/>
                </a:solidFill>
              </a:rPr>
              <a:t>THE NEXT 48 HOURS</a:t>
            </a:r>
            <a:endParaRPr lang="en-US" sz="1100" dirty="0"/>
          </a:p>
        </p:txBody>
      </p:sp>
      <p:sp>
        <p:nvSpPr>
          <p:cNvPr id="21" name="Text 19"/>
          <p:cNvSpPr txBox="1"/>
          <p:nvPr/>
        </p:nvSpPr>
        <p:spPr>
          <a:xfrm>
            <a:off x="6428232" y="3145536"/>
            <a:ext cx="868680" cy="274320"/>
          </a:xfrm>
          <a:prstGeom prst="rect">
            <a:avLst/>
          </a:prstGeom>
          <a:noFill/>
          <a:ln/>
        </p:spPr>
        <p:txBody>
          <a:bodyPr wrap="square" lIns="0" tIns="0" rIns="0" bIns="0" rtlCol="0" anchor="ctr"/>
          <a:lstStyle/>
          <a:p>
            <a:pPr indent="0" marL="0">
              <a:buNone/>
            </a:pPr>
            <a:r>
              <a:rPr lang="en-US" sz="1100" b="1" dirty="0">
                <a:solidFill>
                  <a:srgbClr val="D6ED8D"/>
                </a:solidFill>
              </a:rPr>
              <a:t>0–12 h</a:t>
            </a:r>
            <a:endParaRPr lang="en-US" sz="1100" dirty="0"/>
          </a:p>
        </p:txBody>
      </p:sp>
      <p:sp>
        <p:nvSpPr>
          <p:cNvPr id="22" name="Text 20"/>
          <p:cNvSpPr txBox="1"/>
          <p:nvPr/>
        </p:nvSpPr>
        <p:spPr>
          <a:xfrm>
            <a:off x="7351776" y="3145536"/>
            <a:ext cx="3968496" cy="274320"/>
          </a:xfrm>
          <a:prstGeom prst="rect">
            <a:avLst/>
          </a:prstGeom>
          <a:noFill/>
          <a:ln/>
        </p:spPr>
        <p:txBody>
          <a:bodyPr wrap="square" lIns="0" tIns="0" rIns="0" bIns="0" rtlCol="0" anchor="ctr"/>
          <a:lstStyle/>
          <a:p>
            <a:pPr indent="0" marL="0">
              <a:buNone/>
            </a:pPr>
            <a:r>
              <a:rPr lang="en-US" sz="1100" dirty="0">
                <a:solidFill>
                  <a:srgbClr val="C8D6CF"/>
                </a:solidFill>
              </a:rPr>
              <a:t>Whisper Tiny on the NPU, replacing browser speech</a:t>
            </a:r>
            <a:endParaRPr lang="en-US" sz="1100" dirty="0"/>
          </a:p>
        </p:txBody>
      </p:sp>
      <p:sp>
        <p:nvSpPr>
          <p:cNvPr id="23" name="Text 21"/>
          <p:cNvSpPr txBox="1"/>
          <p:nvPr/>
        </p:nvSpPr>
        <p:spPr>
          <a:xfrm>
            <a:off x="6428232" y="3438144"/>
            <a:ext cx="868680" cy="274320"/>
          </a:xfrm>
          <a:prstGeom prst="rect">
            <a:avLst/>
          </a:prstGeom>
          <a:noFill/>
          <a:ln/>
        </p:spPr>
        <p:txBody>
          <a:bodyPr wrap="square" lIns="0" tIns="0" rIns="0" bIns="0" rtlCol="0" anchor="ctr"/>
          <a:lstStyle/>
          <a:p>
            <a:pPr indent="0" marL="0">
              <a:buNone/>
            </a:pPr>
            <a:r>
              <a:rPr lang="en-US" sz="1100" b="1" dirty="0">
                <a:solidFill>
                  <a:srgbClr val="D6ED8D"/>
                </a:solidFill>
              </a:rPr>
              <a:t>12–24 h</a:t>
            </a:r>
            <a:endParaRPr lang="en-US" sz="1100" dirty="0"/>
          </a:p>
        </p:txBody>
      </p:sp>
      <p:sp>
        <p:nvSpPr>
          <p:cNvPr id="24" name="Text 22"/>
          <p:cNvSpPr txBox="1"/>
          <p:nvPr/>
        </p:nvSpPr>
        <p:spPr>
          <a:xfrm>
            <a:off x="7351776" y="3438144"/>
            <a:ext cx="3968496" cy="274320"/>
          </a:xfrm>
          <a:prstGeom prst="rect">
            <a:avLst/>
          </a:prstGeom>
          <a:noFill/>
          <a:ln/>
        </p:spPr>
        <p:txBody>
          <a:bodyPr wrap="square" lIns="0" tIns="0" rIns="0" bIns="0" rtlCol="0" anchor="ctr"/>
          <a:lstStyle/>
          <a:p>
            <a:pPr indent="0" marL="0">
              <a:buNone/>
            </a:pPr>
            <a:r>
              <a:rPr lang="en-US" sz="1100" dirty="0">
                <a:solidFill>
                  <a:srgbClr val="C8D6CF"/>
                </a:solidFill>
              </a:rPr>
              <a:t>Gemma 2B takes over the intake adapter</a:t>
            </a:r>
            <a:endParaRPr lang="en-US" sz="1100" dirty="0"/>
          </a:p>
        </p:txBody>
      </p:sp>
      <p:sp>
        <p:nvSpPr>
          <p:cNvPr id="25" name="Text 23"/>
          <p:cNvSpPr txBox="1"/>
          <p:nvPr/>
        </p:nvSpPr>
        <p:spPr>
          <a:xfrm>
            <a:off x="6428232" y="3730752"/>
            <a:ext cx="868680" cy="274320"/>
          </a:xfrm>
          <a:prstGeom prst="rect">
            <a:avLst/>
          </a:prstGeom>
          <a:noFill/>
          <a:ln/>
        </p:spPr>
        <p:txBody>
          <a:bodyPr wrap="square" lIns="0" tIns="0" rIns="0" bIns="0" rtlCol="0" anchor="ctr"/>
          <a:lstStyle/>
          <a:p>
            <a:pPr indent="0" marL="0">
              <a:buNone/>
            </a:pPr>
            <a:r>
              <a:rPr lang="en-US" sz="1100" b="1" dirty="0">
                <a:solidFill>
                  <a:srgbClr val="D6ED8D"/>
                </a:solidFill>
              </a:rPr>
              <a:t>24–36 h</a:t>
            </a:r>
            <a:endParaRPr lang="en-US" sz="1100" dirty="0"/>
          </a:p>
        </p:txBody>
      </p:sp>
      <p:sp>
        <p:nvSpPr>
          <p:cNvPr id="26" name="Text 24"/>
          <p:cNvSpPr txBox="1"/>
          <p:nvPr/>
        </p:nvSpPr>
        <p:spPr>
          <a:xfrm>
            <a:off x="7351776" y="3730752"/>
            <a:ext cx="3968496" cy="274320"/>
          </a:xfrm>
          <a:prstGeom prst="rect">
            <a:avLst/>
          </a:prstGeom>
          <a:noFill/>
          <a:ln/>
        </p:spPr>
        <p:txBody>
          <a:bodyPr wrap="square" lIns="0" tIns="0" rIns="0" bIns="0" rtlCol="0" anchor="ctr"/>
          <a:lstStyle/>
          <a:p>
            <a:pPr indent="0" marL="0">
              <a:buNone/>
            </a:pPr>
            <a:r>
              <a:rPr lang="en-US" sz="1100" dirty="0">
                <a:solidFill>
                  <a:srgbClr val="C8D6CF"/>
                </a:solidFill>
              </a:rPr>
              <a:t>Camera evidence check + Office Kit register bridge</a:t>
            </a:r>
            <a:endParaRPr lang="en-US" sz="1100" dirty="0"/>
          </a:p>
        </p:txBody>
      </p:sp>
      <p:sp>
        <p:nvSpPr>
          <p:cNvPr id="27" name="Text 25"/>
          <p:cNvSpPr txBox="1"/>
          <p:nvPr/>
        </p:nvSpPr>
        <p:spPr>
          <a:xfrm>
            <a:off x="6428232" y="4023360"/>
            <a:ext cx="868680" cy="274320"/>
          </a:xfrm>
          <a:prstGeom prst="rect">
            <a:avLst/>
          </a:prstGeom>
          <a:noFill/>
          <a:ln/>
        </p:spPr>
        <p:txBody>
          <a:bodyPr wrap="square" lIns="0" tIns="0" rIns="0" bIns="0" rtlCol="0" anchor="ctr"/>
          <a:lstStyle/>
          <a:p>
            <a:pPr indent="0" marL="0">
              <a:buNone/>
            </a:pPr>
            <a:r>
              <a:rPr lang="en-US" sz="1100" b="1" dirty="0">
                <a:solidFill>
                  <a:srgbClr val="D6ED8D"/>
                </a:solidFill>
              </a:rPr>
              <a:t>36–48 h</a:t>
            </a:r>
            <a:endParaRPr lang="en-US" sz="1100" dirty="0"/>
          </a:p>
        </p:txBody>
      </p:sp>
      <p:sp>
        <p:nvSpPr>
          <p:cNvPr id="28" name="Text 26"/>
          <p:cNvSpPr txBox="1"/>
          <p:nvPr/>
        </p:nvSpPr>
        <p:spPr>
          <a:xfrm>
            <a:off x="7351776" y="4023360"/>
            <a:ext cx="3968496" cy="274320"/>
          </a:xfrm>
          <a:prstGeom prst="rect">
            <a:avLst/>
          </a:prstGeom>
          <a:noFill/>
          <a:ln/>
        </p:spPr>
        <p:txBody>
          <a:bodyPr wrap="square" lIns="0" tIns="0" rIns="0" bIns="0" rtlCol="0" anchor="ctr"/>
          <a:lstStyle/>
          <a:p>
            <a:pPr indent="0" marL="0">
              <a:buNone/>
            </a:pPr>
            <a:r>
              <a:rPr lang="en-US" sz="1100" dirty="0">
                <a:solidFill>
                  <a:srgbClr val="C8D6CF"/>
                </a:solidFill>
              </a:rPr>
              <a:t>Harden, test, rehearse the ninety-second demo</a:t>
            </a:r>
            <a:endParaRPr lang="en-US" sz="1100" dirty="0"/>
          </a:p>
        </p:txBody>
      </p:sp>
      <p:sp>
        <p:nvSpPr>
          <p:cNvPr id="29" name="card"/>
          <p:cNvSpPr/>
          <p:nvPr/>
        </p:nvSpPr>
        <p:spPr>
          <a:xfrm>
            <a:off x="566928" y="4526280"/>
            <a:ext cx="11027664" cy="777240"/>
          </a:xfrm>
          <a:prstGeom prst="roundRect">
            <a:avLst>
              <a:gd name="adj" fmla="val 11765"/>
            </a:avLst>
          </a:prstGeom>
          <a:solidFill>
            <a:srgbClr val="EDF3EF"/>
          </a:solidFill>
          <a:ln w="12700">
            <a:solidFill>
              <a:srgbClr val="DCE6DF"/>
            </a:solidFill>
            <a:prstDash val="solid"/>
          </a:ln>
        </p:spPr>
      </p:sp>
      <p:sp>
        <p:nvSpPr>
          <p:cNvPr id="30" name="Text 28"/>
          <p:cNvSpPr txBox="1"/>
          <p:nvPr/>
        </p:nvSpPr>
        <p:spPr>
          <a:xfrm>
            <a:off x="859536" y="4526280"/>
            <a:ext cx="10442448" cy="777240"/>
          </a:xfrm>
          <a:prstGeom prst="rect">
            <a:avLst/>
          </a:prstGeom>
          <a:noFill/>
          <a:ln/>
        </p:spPr>
        <p:txBody>
          <a:bodyPr wrap="square" lIns="0" tIns="0" rIns="0" bIns="0" rtlCol="0" anchor="ctr"/>
          <a:lstStyle/>
          <a:p>
            <a:pPr indent="0" marL="0">
              <a:lnSpc>
                <a:spcPts val="1800"/>
              </a:lnSpc>
              <a:buNone/>
            </a:pPr>
            <a:r>
              <a:rPr lang="en-US" sz="1300" b="1" dirty="0">
                <a:solidFill>
                  <a:srgbClr val="173D31"/>
                </a:solidFill>
              </a:rPr>
              <a:t>Twenty-five percent of this hackathon is scored from the device, not from this deck. The engine is pure functions, so moving it behind a real database — or onto the NPU — is a port, not a rewrite.</a:t>
            </a:r>
            <a:endParaRPr lang="en-US" sz="1300" dirty="0"/>
          </a:p>
        </p:txBody>
      </p:sp>
      <p:sp>
        <p:nvSpPr>
          <p:cNvPr id="31" name="card"/>
          <p:cNvSpPr/>
          <p:nvPr/>
        </p:nvSpPr>
        <p:spPr>
          <a:xfrm>
            <a:off x="566928" y="6016752"/>
            <a:ext cx="11027664" cy="457200"/>
          </a:xfrm>
          <a:prstGeom prst="roundRect">
            <a:avLst>
              <a:gd name="adj" fmla="val 20000"/>
            </a:avLst>
          </a:prstGeom>
          <a:solidFill>
            <a:srgbClr val="EDF3EF"/>
          </a:solidFill>
          <a:ln w="12700">
            <a:solidFill>
              <a:srgbClr val="DCE6DF"/>
            </a:solidFill>
            <a:prstDash val="solid"/>
          </a:ln>
        </p:spPr>
      </p:sp>
      <p:sp>
        <p:nvSpPr>
          <p:cNvPr id="32" name="Text 30"/>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4C6258"/>
                </a:solidFill>
              </a:rPr>
              <a:t>WE WROTE DOWN WHAT IS MOCKED BEFORE ANY JUDGE HAD TO ASK</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8AFA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66928" y="420624"/>
            <a:ext cx="11027664" cy="868680"/>
          </a:xfrm>
          <a:prstGeom prst="rect">
            <a:avLst/>
          </a:prstGeom>
          <a:noFill/>
          <a:ln/>
        </p:spPr>
        <p:txBody>
          <a:bodyPr wrap="square" rtlCol="0" anchor="ctr"/>
          <a:lstStyle/>
          <a:p>
            <a:pPr algn="l" indent="0" marL="0">
              <a:buNone/>
            </a:pPr>
            <a:r>
              <a:rPr lang="en-US" sz="3400" b="1" dirty="0">
                <a:solidFill>
                  <a:srgbClr val="FFFFFF"/>
                </a:solidFill>
              </a:rPr>
              <a:t>What Ramesh is actually asking for</a:t>
            </a:r>
            <a:endParaRPr lang="en-US" sz="3400" dirty="0"/>
          </a:p>
        </p:txBody>
      </p:sp>
      <p:sp>
        <p:nvSpPr>
          <p:cNvPr id="3" name="Text 1"/>
          <p:cNvSpPr txBox="1"/>
          <p:nvPr/>
        </p:nvSpPr>
        <p:spPr>
          <a:xfrm>
            <a:off x="566928" y="1691640"/>
            <a:ext cx="10881360" cy="2011680"/>
          </a:xfrm>
          <a:prstGeom prst="rect">
            <a:avLst/>
          </a:prstGeom>
          <a:noFill/>
          <a:ln/>
        </p:spPr>
        <p:txBody>
          <a:bodyPr wrap="square" lIns="0" tIns="0" rIns="0" bIns="0" rtlCol="0" anchor="ctr"/>
          <a:lstStyle/>
          <a:p>
            <a:pPr indent="0" marL="0">
              <a:lnSpc>
                <a:spcPts val="4600"/>
              </a:lnSpc>
              <a:buNone/>
            </a:pPr>
            <a:r>
              <a:rPr lang="en-US" sz="3400" b="1" dirty="0">
                <a:solidFill>
                  <a:srgbClr val="FFFFFF"/>
                </a:solidFill>
              </a:rPr>
              <a:t>“I am not asking for charity.</a:t>
            </a:r>
            <a:endParaRPr lang="en-US" sz="3400" dirty="0"/>
          </a:p>
          <a:p>
            <a:pPr indent="0" marL="0">
              <a:lnSpc>
                <a:spcPts val="4600"/>
              </a:lnSpc>
              <a:buNone/>
            </a:pPr>
            <a:r>
              <a:rPr lang="en-US" sz="3400" b="1" dirty="0">
                <a:solidFill>
                  <a:srgbClr val="FFFFFF"/>
                </a:solidFill>
              </a:rPr>
              <a:t>Explain it — and let me have a say.”</a:t>
            </a:r>
            <a:endParaRPr lang="en-US" sz="3400" dirty="0"/>
          </a:p>
        </p:txBody>
      </p:sp>
      <p:sp>
        <p:nvSpPr>
          <p:cNvPr id="4" name="card"/>
          <p:cNvSpPr/>
          <p:nvPr/>
        </p:nvSpPr>
        <p:spPr>
          <a:xfrm>
            <a:off x="566928" y="3931920"/>
            <a:ext cx="3456432" cy="1371600"/>
          </a:xfrm>
          <a:prstGeom prst="roundRect">
            <a:avLst>
              <a:gd name="adj" fmla="val 6667"/>
            </a:avLst>
          </a:prstGeom>
          <a:solidFill>
            <a:srgbClr val="1F4A3C"/>
          </a:solidFill>
          <a:ln w="12700">
            <a:solidFill>
              <a:srgbClr val="2E5C4C"/>
            </a:solidFill>
            <a:prstDash val="solid"/>
          </a:ln>
        </p:spPr>
      </p:sp>
      <p:sp>
        <p:nvSpPr>
          <p:cNvPr id="5" name="Text 3"/>
          <p:cNvSpPr txBox="1"/>
          <p:nvPr/>
        </p:nvSpPr>
        <p:spPr>
          <a:xfrm>
            <a:off x="841248" y="4133088"/>
            <a:ext cx="2907792" cy="347472"/>
          </a:xfrm>
          <a:prstGeom prst="rect">
            <a:avLst/>
          </a:prstGeom>
          <a:noFill/>
          <a:ln/>
        </p:spPr>
        <p:txBody>
          <a:bodyPr wrap="square" lIns="0" tIns="0" rIns="0" bIns="0" rtlCol="0" anchor="ctr"/>
          <a:lstStyle/>
          <a:p>
            <a:pPr indent="0" marL="0">
              <a:buNone/>
            </a:pPr>
            <a:r>
              <a:rPr lang="en-US" sz="1600" b="1" dirty="0">
                <a:solidFill>
                  <a:srgbClr val="D6ED8D"/>
                </a:solidFill>
              </a:rPr>
              <a:t>Explain it</a:t>
            </a:r>
            <a:endParaRPr lang="en-US" sz="1600" dirty="0"/>
          </a:p>
        </p:txBody>
      </p:sp>
      <p:sp>
        <p:nvSpPr>
          <p:cNvPr id="6" name="Text 4"/>
          <p:cNvSpPr txBox="1"/>
          <p:nvPr/>
        </p:nvSpPr>
        <p:spPr>
          <a:xfrm>
            <a:off x="841248" y="4498848"/>
            <a:ext cx="2907792" cy="694944"/>
          </a:xfrm>
          <a:prstGeom prst="rect">
            <a:avLst/>
          </a:prstGeom>
          <a:noFill/>
          <a:ln/>
        </p:spPr>
        <p:txBody>
          <a:bodyPr wrap="square" lIns="0" tIns="0" rIns="0" bIns="0" rtlCol="0" anchor="ctr"/>
          <a:lstStyle/>
          <a:p>
            <a:pPr indent="0" marL="0">
              <a:lnSpc>
                <a:spcPts val="1650"/>
              </a:lnSpc>
              <a:buNone/>
            </a:pPr>
            <a:r>
              <a:rPr lang="en-US" sz="1200" dirty="0">
                <a:solidFill>
                  <a:srgbClr val="A9C0B6"/>
                </a:solidFill>
              </a:rPr>
              <a:t>Every decision frozen, replayable, and read aloud in his own language</a:t>
            </a:r>
            <a:endParaRPr lang="en-US" sz="1200" dirty="0"/>
          </a:p>
        </p:txBody>
      </p:sp>
      <p:sp>
        <p:nvSpPr>
          <p:cNvPr id="7" name="card"/>
          <p:cNvSpPr/>
          <p:nvPr/>
        </p:nvSpPr>
        <p:spPr>
          <a:xfrm>
            <a:off x="4352544" y="3931920"/>
            <a:ext cx="3456432" cy="1371600"/>
          </a:xfrm>
          <a:prstGeom prst="roundRect">
            <a:avLst>
              <a:gd name="adj" fmla="val 6667"/>
            </a:avLst>
          </a:prstGeom>
          <a:solidFill>
            <a:srgbClr val="1F4A3C"/>
          </a:solidFill>
          <a:ln w="12700">
            <a:solidFill>
              <a:srgbClr val="2E5C4C"/>
            </a:solidFill>
            <a:prstDash val="solid"/>
          </a:ln>
        </p:spPr>
      </p:sp>
      <p:sp>
        <p:nvSpPr>
          <p:cNvPr id="8" name="Text 6"/>
          <p:cNvSpPr txBox="1"/>
          <p:nvPr/>
        </p:nvSpPr>
        <p:spPr>
          <a:xfrm>
            <a:off x="4626864" y="4133088"/>
            <a:ext cx="2907792" cy="347472"/>
          </a:xfrm>
          <a:prstGeom prst="rect">
            <a:avLst/>
          </a:prstGeom>
          <a:noFill/>
          <a:ln/>
        </p:spPr>
        <p:txBody>
          <a:bodyPr wrap="square" lIns="0" tIns="0" rIns="0" bIns="0" rtlCol="0" anchor="ctr"/>
          <a:lstStyle/>
          <a:p>
            <a:pPr indent="0" marL="0">
              <a:buNone/>
            </a:pPr>
            <a:r>
              <a:rPr lang="en-US" sz="1600" b="1" dirty="0">
                <a:solidFill>
                  <a:srgbClr val="D6ED8D"/>
                </a:solidFill>
              </a:rPr>
              <a:t>Let me have a say</a:t>
            </a:r>
            <a:endParaRPr lang="en-US" sz="1600" dirty="0"/>
          </a:p>
        </p:txBody>
      </p:sp>
      <p:sp>
        <p:nvSpPr>
          <p:cNvPr id="9" name="Text 7"/>
          <p:cNvSpPr txBox="1"/>
          <p:nvPr/>
        </p:nvSpPr>
        <p:spPr>
          <a:xfrm>
            <a:off x="4626864" y="4498848"/>
            <a:ext cx="2907792" cy="694944"/>
          </a:xfrm>
          <a:prstGeom prst="rect">
            <a:avLst/>
          </a:prstGeom>
          <a:noFill/>
          <a:ln/>
        </p:spPr>
        <p:txBody>
          <a:bodyPr wrap="square" lIns="0" tIns="0" rIns="0" bIns="0" rtlCol="0" anchor="ctr"/>
          <a:lstStyle/>
          <a:p>
            <a:pPr indent="0" marL="0">
              <a:lnSpc>
                <a:spcPts val="1650"/>
              </a:lnSpc>
              <a:buNone/>
            </a:pPr>
            <a:r>
              <a:rPr lang="en-US" sz="1200" dirty="0">
                <a:solidFill>
                  <a:srgbClr val="A9C0B6"/>
                </a:solidFill>
              </a:rPr>
              <a:t>One member, one vote — simulated before the ballot, enforced in code</a:t>
            </a:r>
            <a:endParaRPr lang="en-US" sz="1200" dirty="0"/>
          </a:p>
        </p:txBody>
      </p:sp>
      <p:sp>
        <p:nvSpPr>
          <p:cNvPr id="10" name="card"/>
          <p:cNvSpPr/>
          <p:nvPr/>
        </p:nvSpPr>
        <p:spPr>
          <a:xfrm>
            <a:off x="8138160" y="3931920"/>
            <a:ext cx="3456432" cy="1371600"/>
          </a:xfrm>
          <a:prstGeom prst="roundRect">
            <a:avLst>
              <a:gd name="adj" fmla="val 6667"/>
            </a:avLst>
          </a:prstGeom>
          <a:solidFill>
            <a:srgbClr val="1F4A3C"/>
          </a:solidFill>
          <a:ln w="12700">
            <a:solidFill>
              <a:srgbClr val="2E5C4C"/>
            </a:solidFill>
            <a:prstDash val="solid"/>
          </a:ln>
        </p:spPr>
      </p:sp>
      <p:sp>
        <p:nvSpPr>
          <p:cNvPr id="11" name="Text 9"/>
          <p:cNvSpPr txBox="1"/>
          <p:nvPr/>
        </p:nvSpPr>
        <p:spPr>
          <a:xfrm>
            <a:off x="8412480" y="4133088"/>
            <a:ext cx="2907792" cy="347472"/>
          </a:xfrm>
          <a:prstGeom prst="rect">
            <a:avLst/>
          </a:prstGeom>
          <a:noFill/>
          <a:ln/>
        </p:spPr>
        <p:txBody>
          <a:bodyPr wrap="square" lIns="0" tIns="0" rIns="0" bIns="0" rtlCol="0" anchor="ctr"/>
          <a:lstStyle/>
          <a:p>
            <a:pPr indent="0" marL="0">
              <a:buNone/>
            </a:pPr>
            <a:r>
              <a:rPr lang="en-US" sz="1600" b="1" dirty="0">
                <a:solidFill>
                  <a:srgbClr val="D6ED8D"/>
                </a:solidFill>
              </a:rPr>
              <a:t>On my phone</a:t>
            </a:r>
            <a:endParaRPr lang="en-US" sz="1600" dirty="0"/>
          </a:p>
        </p:txBody>
      </p:sp>
      <p:sp>
        <p:nvSpPr>
          <p:cNvPr id="12" name="Text 10"/>
          <p:cNvSpPr txBox="1"/>
          <p:nvPr/>
        </p:nvSpPr>
        <p:spPr>
          <a:xfrm>
            <a:off x="8412480" y="4498848"/>
            <a:ext cx="2907792" cy="694944"/>
          </a:xfrm>
          <a:prstGeom prst="rect">
            <a:avLst/>
          </a:prstGeom>
          <a:noFill/>
          <a:ln/>
        </p:spPr>
        <p:txBody>
          <a:bodyPr wrap="square" lIns="0" tIns="0" rIns="0" bIns="0" rtlCol="0" anchor="ctr"/>
          <a:lstStyle/>
          <a:p>
            <a:pPr indent="0" marL="0">
              <a:lnSpc>
                <a:spcPts val="1650"/>
              </a:lnSpc>
              <a:buNone/>
            </a:pPr>
            <a:r>
              <a:rPr lang="en-US" sz="1200" dirty="0">
                <a:solidFill>
                  <a:srgbClr val="A9C0B6"/>
                </a:solidFill>
              </a:rPr>
              <a:t>Local models on the handset, because a cooperative cannot rent someone else's cloud</a:t>
            </a:r>
            <a:endParaRPr lang="en-US" sz="1200" dirty="0"/>
          </a:p>
        </p:txBody>
      </p:sp>
      <p:sp>
        <p:nvSpPr>
          <p:cNvPr id="13" name="card"/>
          <p:cNvSpPr/>
          <p:nvPr/>
        </p:nvSpPr>
        <p:spPr>
          <a:xfrm>
            <a:off x="566928" y="6016752"/>
            <a:ext cx="11027664" cy="457200"/>
          </a:xfrm>
          <a:prstGeom prst="roundRect">
            <a:avLst>
              <a:gd name="adj" fmla="val 20000"/>
            </a:avLst>
          </a:prstGeom>
          <a:solidFill>
            <a:srgbClr val="1F4A3C"/>
          </a:solidFill>
          <a:ln w="12700">
            <a:solidFill>
              <a:srgbClr val="2E5C4C"/>
            </a:solidFill>
            <a:prstDash val="solid"/>
          </a:ln>
        </p:spPr>
      </p:sp>
      <p:sp>
        <p:nvSpPr>
          <p:cNvPr id="14" name="Text 12"/>
          <p:cNvSpPr txBox="1"/>
          <p:nvPr/>
        </p:nvSpPr>
        <p:spPr>
          <a:xfrm>
            <a:off x="786384" y="6016752"/>
            <a:ext cx="10588752" cy="457200"/>
          </a:xfrm>
          <a:prstGeom prst="rect">
            <a:avLst/>
          </a:prstGeom>
          <a:noFill/>
          <a:ln/>
        </p:spPr>
        <p:txBody>
          <a:bodyPr wrap="square" lIns="0" tIns="0" rIns="0" bIns="0" rtlCol="0" anchor="ctr"/>
          <a:lstStyle/>
          <a:p>
            <a:pPr indent="0" marL="0">
              <a:buNone/>
            </a:pPr>
            <a:r>
              <a:rPr lang="en-US" sz="1150" b="1" spc="110" kern="0" dirty="0">
                <a:solidFill>
                  <a:srgbClr val="8FA89C"/>
                </a:solidFill>
              </a:rPr>
              <a:t>KAAMSABHA  ·  COMMUNITY APP  ·  iQOO HACKATHON 2026 GRAND FINALE</a:t>
            </a:r>
            <a:endParaRPr lang="en-US" sz="1150" dirty="0"/>
          </a:p>
        </p:txBody>
      </p:sp>
      <p:sp>
        <p:nvSpPr>
          <p:cNvPr id="25" name="Slide Number Placeholder 0"/>
          <p:cNvSpPr>
            <a:spLocks noGrp="1"/>
          </p:cNvSpPr>
          <p:nvPr>
            <p:ph type="sldNum" sz="quarter" idx="4294967295"/>
          </p:nvPr>
        </p:nvSpPr>
        <p:spPr>
          <a:xfrm>
            <a:off x="1113739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E8179"/>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KaamSabha">
  <a:themeElements>
    <a:clrScheme name="KaamSabha">
      <a:dk1>
        <a:srgbClr val="171A18"/>
      </a:dk1>
      <a:lt1>
        <a:srgbClr val="FFFFFF"/>
      </a:lt1>
      <a:dk2>
        <a:srgbClr val="183C31"/>
      </a:dk2>
      <a:lt2>
        <a:srgbClr val="F7F7F5"/>
      </a:lt2>
      <a:accent1>
        <a:srgbClr val="183C31"/>
      </a:accent1>
      <a:accent2>
        <a:srgbClr val="D6ED8D"/>
      </a:accent2>
      <a:accent3>
        <a:srgbClr val="2D7A5E"/>
      </a:accent3>
      <a:accent4>
        <a:srgbClr val="9C382F"/>
      </a:accent4>
      <a:accent5>
        <a:srgbClr val="6F7A74"/>
      </a:accent5>
      <a:accent6>
        <a:srgbClr val="176B52"/>
      </a:accent6>
      <a:hlink>
        <a:srgbClr val="176B52"/>
      </a:hlink>
      <a:folHlink>
        <a:srgbClr val="6F7A74"/>
      </a:folHlink>
    </a:clrScheme>
    <a:fontScheme name="KaamSabh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KaamSabha - Ramesh's month - iQOO Hackathon 2026</dc:title>
  <dc:subject>PptxGenJS Presentation</dc:subject>
  <dc:creator>Team KaamSabha</dc:creator>
  <cp:lastModifiedBy>Team KaamSabha</cp:lastModifiedBy>
  <cp:revision>1</cp:revision>
  <dcterms:created xsi:type="dcterms:W3CDTF">2026-10-05T17:16:50Z</dcterms:created>
  <dcterms:modified xsi:type="dcterms:W3CDTF">2026-10-05T17:16:50Z</dcterms:modified>
</cp:coreProperties>
</file>